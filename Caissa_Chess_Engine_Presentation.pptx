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69" r:id="rId8"/>
    <p:sldId id="271" r:id="rId9"/>
    <p:sldId id="270" r:id="rId10"/>
    <p:sldId id="272" r:id="rId11"/>
    <p:sldId id="278" r:id="rId12"/>
    <p:sldId id="275" r:id="rId13"/>
    <p:sldId id="277" r:id="rId14"/>
    <p:sldId id="276" r:id="rId15"/>
    <p:sldId id="262" r:id="rId16"/>
    <p:sldId id="263" r:id="rId17"/>
    <p:sldId id="279" r:id="rId18"/>
    <p:sldId id="280" r:id="rId19"/>
    <p:sldId id="281" r:id="rId20"/>
    <p:sldId id="282" r:id="rId21"/>
    <p:sldId id="284" r:id="rId22"/>
    <p:sldId id="287" r:id="rId23"/>
    <p:sldId id="283" r:id="rId24"/>
    <p:sldId id="286" r:id="rId25"/>
    <p:sldId id="285" r:id="rId26"/>
    <p:sldId id="264" r:id="rId27"/>
    <p:sldId id="265" r:id="rId28"/>
    <p:sldId id="266" r:id="rId29"/>
    <p:sldId id="267" r:id="rId30"/>
    <p:sldId id="288" r:id="rId31"/>
    <p:sldId id="268"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2297CF-0364-4D41-A2DA-EC4E91242093}" v="53" dt="2025-05-12T18:16:06.1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snapToGrid="0" snapToObjects="1">
      <p:cViewPr varScale="1">
        <p:scale>
          <a:sx n="78" d="100"/>
          <a:sy n="78" d="100"/>
        </p:scale>
        <p:origin x="71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A60B7F-EAC9-406C-8B3B-416026F032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506707C-AC05-4025-B403-FBB21542C7CA}">
      <dgm:prSet/>
      <dgm:spPr/>
      <dgm:t>
        <a:bodyPr/>
        <a:lstStyle/>
        <a:p>
          <a:pPr>
            <a:lnSpc>
              <a:spcPct val="100000"/>
            </a:lnSpc>
          </a:pPr>
          <a:r>
            <a:rPr lang="en-US"/>
            <a:t>Chess is a strategic game with complex rules and AI challenges.</a:t>
          </a:r>
        </a:p>
      </dgm:t>
    </dgm:pt>
    <dgm:pt modelId="{C57FCC86-A828-446E-8FDC-473C255512D4}" type="parTrans" cxnId="{141EFD59-7B67-4D2C-B73A-69B29701510D}">
      <dgm:prSet/>
      <dgm:spPr/>
      <dgm:t>
        <a:bodyPr/>
        <a:lstStyle/>
        <a:p>
          <a:endParaRPr lang="en-US"/>
        </a:p>
      </dgm:t>
    </dgm:pt>
    <dgm:pt modelId="{663A7A89-A667-4DA2-BDD2-F60705E245A2}" type="sibTrans" cxnId="{141EFD59-7B67-4D2C-B73A-69B29701510D}">
      <dgm:prSet/>
      <dgm:spPr/>
      <dgm:t>
        <a:bodyPr/>
        <a:lstStyle/>
        <a:p>
          <a:endParaRPr lang="en-US"/>
        </a:p>
      </dgm:t>
    </dgm:pt>
    <dgm:pt modelId="{46C5C049-BBE2-486C-98BA-710034AD5EDF}">
      <dgm:prSet/>
      <dgm:spPr/>
      <dgm:t>
        <a:bodyPr/>
        <a:lstStyle/>
        <a:p>
          <a:pPr>
            <a:lnSpc>
              <a:spcPct val="100000"/>
            </a:lnSpc>
          </a:pPr>
          <a:r>
            <a:rPr lang="en-US"/>
            <a:t>This project builds a playable chess engine from scratch in Python.</a:t>
          </a:r>
        </a:p>
      </dgm:t>
    </dgm:pt>
    <dgm:pt modelId="{456A0372-CC5D-471F-9B4A-91D3FE28C1EC}" type="parTrans" cxnId="{0CE201F3-F52C-4895-B172-1F7F1E05CA9E}">
      <dgm:prSet/>
      <dgm:spPr/>
      <dgm:t>
        <a:bodyPr/>
        <a:lstStyle/>
        <a:p>
          <a:endParaRPr lang="en-US"/>
        </a:p>
      </dgm:t>
    </dgm:pt>
    <dgm:pt modelId="{59EF22E3-3D06-43CA-8105-72B04CE9C7E6}" type="sibTrans" cxnId="{0CE201F3-F52C-4895-B172-1F7F1E05CA9E}">
      <dgm:prSet/>
      <dgm:spPr/>
      <dgm:t>
        <a:bodyPr/>
        <a:lstStyle/>
        <a:p>
          <a:endParaRPr lang="en-US"/>
        </a:p>
      </dgm:t>
    </dgm:pt>
    <dgm:pt modelId="{F0A98299-6596-472E-B499-1E7F75612648}">
      <dgm:prSet/>
      <dgm:spPr/>
      <dgm:t>
        <a:bodyPr/>
        <a:lstStyle/>
        <a:p>
          <a:pPr>
            <a:lnSpc>
              <a:spcPct val="100000"/>
            </a:lnSpc>
          </a:pPr>
          <a:r>
            <a:rPr lang="en-US"/>
            <a:t>Objective: Create an interactive chess engine with AI and full rule support.</a:t>
          </a:r>
        </a:p>
      </dgm:t>
    </dgm:pt>
    <dgm:pt modelId="{F0EEEF9F-426B-40EB-B290-8145F6040F4B}" type="parTrans" cxnId="{F169F754-67EA-40E8-8434-C12BE2DAEAD3}">
      <dgm:prSet/>
      <dgm:spPr/>
      <dgm:t>
        <a:bodyPr/>
        <a:lstStyle/>
        <a:p>
          <a:endParaRPr lang="en-US"/>
        </a:p>
      </dgm:t>
    </dgm:pt>
    <dgm:pt modelId="{93284286-1102-43BC-B315-B56A29C085F0}" type="sibTrans" cxnId="{F169F754-67EA-40E8-8434-C12BE2DAEAD3}">
      <dgm:prSet/>
      <dgm:spPr/>
      <dgm:t>
        <a:bodyPr/>
        <a:lstStyle/>
        <a:p>
          <a:endParaRPr lang="en-US"/>
        </a:p>
      </dgm:t>
    </dgm:pt>
    <dgm:pt modelId="{115F9639-4FE1-4DB5-BAA4-9AD7B6BEAB94}" type="pres">
      <dgm:prSet presAssocID="{E9A60B7F-EAC9-406C-8B3B-416026F032A9}" presName="root" presStyleCnt="0">
        <dgm:presLayoutVars>
          <dgm:dir/>
          <dgm:resizeHandles val="exact"/>
        </dgm:presLayoutVars>
      </dgm:prSet>
      <dgm:spPr/>
    </dgm:pt>
    <dgm:pt modelId="{D1EB44A8-EB62-488C-AA7A-A85E8B7F00FB}" type="pres">
      <dgm:prSet presAssocID="{C506707C-AC05-4025-B403-FBB21542C7CA}" presName="compNode" presStyleCnt="0"/>
      <dgm:spPr/>
    </dgm:pt>
    <dgm:pt modelId="{C3D7CB19-57C2-4D19-A701-71CE269AC407}" type="pres">
      <dgm:prSet presAssocID="{C506707C-AC05-4025-B403-FBB21542C7CA}" presName="bgRect" presStyleLbl="bgShp" presStyleIdx="0" presStyleCnt="3"/>
      <dgm:spPr/>
    </dgm:pt>
    <dgm:pt modelId="{8B0B6F1A-162A-4B89-9960-1A9291D4F47D}" type="pres">
      <dgm:prSet presAssocID="{C506707C-AC05-4025-B403-FBB21542C7C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uzzle"/>
        </a:ext>
      </dgm:extLst>
    </dgm:pt>
    <dgm:pt modelId="{34175218-1AFB-414D-93BC-A09C003AA398}" type="pres">
      <dgm:prSet presAssocID="{C506707C-AC05-4025-B403-FBB21542C7CA}" presName="spaceRect" presStyleCnt="0"/>
      <dgm:spPr/>
    </dgm:pt>
    <dgm:pt modelId="{45FEBE9B-CF84-4AE3-B8C6-E4796E883791}" type="pres">
      <dgm:prSet presAssocID="{C506707C-AC05-4025-B403-FBB21542C7CA}" presName="parTx" presStyleLbl="revTx" presStyleIdx="0" presStyleCnt="3">
        <dgm:presLayoutVars>
          <dgm:chMax val="0"/>
          <dgm:chPref val="0"/>
        </dgm:presLayoutVars>
      </dgm:prSet>
      <dgm:spPr/>
    </dgm:pt>
    <dgm:pt modelId="{CC0A84D0-00A1-497F-9338-6A96ECDBD127}" type="pres">
      <dgm:prSet presAssocID="{663A7A89-A667-4DA2-BDD2-F60705E245A2}" presName="sibTrans" presStyleCnt="0"/>
      <dgm:spPr/>
    </dgm:pt>
    <dgm:pt modelId="{91392524-F4FF-47AF-9C70-09AA4DBCA9DE}" type="pres">
      <dgm:prSet presAssocID="{46C5C049-BBE2-486C-98BA-710034AD5EDF}" presName="compNode" presStyleCnt="0"/>
      <dgm:spPr/>
    </dgm:pt>
    <dgm:pt modelId="{4C1B469F-8182-4431-9DFC-BECA182D50F3}" type="pres">
      <dgm:prSet presAssocID="{46C5C049-BBE2-486C-98BA-710034AD5EDF}" presName="bgRect" presStyleLbl="bgShp" presStyleIdx="1" presStyleCnt="3"/>
      <dgm:spPr/>
    </dgm:pt>
    <dgm:pt modelId="{7BAA69A3-52A9-4913-9198-42FBD6632F9D}" type="pres">
      <dgm:prSet presAssocID="{46C5C049-BBE2-486C-98BA-710034AD5EDF}"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awn outline"/>
        </a:ext>
      </dgm:extLst>
    </dgm:pt>
    <dgm:pt modelId="{B1C29B74-8EAE-425D-904F-DEE450356FFF}" type="pres">
      <dgm:prSet presAssocID="{46C5C049-BBE2-486C-98BA-710034AD5EDF}" presName="spaceRect" presStyleCnt="0"/>
      <dgm:spPr/>
    </dgm:pt>
    <dgm:pt modelId="{E9088390-110A-49C0-B676-1306B9CD10C6}" type="pres">
      <dgm:prSet presAssocID="{46C5C049-BBE2-486C-98BA-710034AD5EDF}" presName="parTx" presStyleLbl="revTx" presStyleIdx="1" presStyleCnt="3">
        <dgm:presLayoutVars>
          <dgm:chMax val="0"/>
          <dgm:chPref val="0"/>
        </dgm:presLayoutVars>
      </dgm:prSet>
      <dgm:spPr/>
    </dgm:pt>
    <dgm:pt modelId="{75D6FFC6-FD09-42B6-9AEC-13453A6DB371}" type="pres">
      <dgm:prSet presAssocID="{59EF22E3-3D06-43CA-8105-72B04CE9C7E6}" presName="sibTrans" presStyleCnt="0"/>
      <dgm:spPr/>
    </dgm:pt>
    <dgm:pt modelId="{ADEA32B3-EB0A-45CC-BABC-076456CDB192}" type="pres">
      <dgm:prSet presAssocID="{F0A98299-6596-472E-B499-1E7F75612648}" presName="compNode" presStyleCnt="0"/>
      <dgm:spPr/>
    </dgm:pt>
    <dgm:pt modelId="{A1134C17-0D5B-4B5F-BBA1-264223D4B9BF}" type="pres">
      <dgm:prSet presAssocID="{F0A98299-6596-472E-B499-1E7F75612648}" presName="bgRect" presStyleLbl="bgShp" presStyleIdx="2" presStyleCnt="3"/>
      <dgm:spPr/>
    </dgm:pt>
    <dgm:pt modelId="{C3ED6B60-965D-4E0D-8091-9B1057040CE2}" type="pres">
      <dgm:prSet presAssocID="{F0A98299-6596-472E-B499-1E7F75612648}"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hess pieces with solid fill"/>
        </a:ext>
      </dgm:extLst>
    </dgm:pt>
    <dgm:pt modelId="{9F76E067-F1C0-4A11-942D-DD86D5FFEB49}" type="pres">
      <dgm:prSet presAssocID="{F0A98299-6596-472E-B499-1E7F75612648}" presName="spaceRect" presStyleCnt="0"/>
      <dgm:spPr/>
    </dgm:pt>
    <dgm:pt modelId="{0E4D2B1C-46BC-4323-B751-CC20157965ED}" type="pres">
      <dgm:prSet presAssocID="{F0A98299-6596-472E-B499-1E7F75612648}" presName="parTx" presStyleLbl="revTx" presStyleIdx="2" presStyleCnt="3">
        <dgm:presLayoutVars>
          <dgm:chMax val="0"/>
          <dgm:chPref val="0"/>
        </dgm:presLayoutVars>
      </dgm:prSet>
      <dgm:spPr/>
    </dgm:pt>
  </dgm:ptLst>
  <dgm:cxnLst>
    <dgm:cxn modelId="{2D722110-D5B8-4105-A2A8-C7DCC07A0DC6}" type="presOf" srcId="{C506707C-AC05-4025-B403-FBB21542C7CA}" destId="{45FEBE9B-CF84-4AE3-B8C6-E4796E883791}" srcOrd="0" destOrd="0" presId="urn:microsoft.com/office/officeart/2018/2/layout/IconVerticalSolidList"/>
    <dgm:cxn modelId="{4E6C4B4A-1C22-45EA-BE5A-3B8C86018F25}" type="presOf" srcId="{46C5C049-BBE2-486C-98BA-710034AD5EDF}" destId="{E9088390-110A-49C0-B676-1306B9CD10C6}" srcOrd="0" destOrd="0" presId="urn:microsoft.com/office/officeart/2018/2/layout/IconVerticalSolidList"/>
    <dgm:cxn modelId="{2F51FB52-026C-4236-8FE6-D021493EE15A}" type="presOf" srcId="{F0A98299-6596-472E-B499-1E7F75612648}" destId="{0E4D2B1C-46BC-4323-B751-CC20157965ED}" srcOrd="0" destOrd="0" presId="urn:microsoft.com/office/officeart/2018/2/layout/IconVerticalSolidList"/>
    <dgm:cxn modelId="{F169F754-67EA-40E8-8434-C12BE2DAEAD3}" srcId="{E9A60B7F-EAC9-406C-8B3B-416026F032A9}" destId="{F0A98299-6596-472E-B499-1E7F75612648}" srcOrd="2" destOrd="0" parTransId="{F0EEEF9F-426B-40EB-B290-8145F6040F4B}" sibTransId="{93284286-1102-43BC-B315-B56A29C085F0}"/>
    <dgm:cxn modelId="{141EFD59-7B67-4D2C-B73A-69B29701510D}" srcId="{E9A60B7F-EAC9-406C-8B3B-416026F032A9}" destId="{C506707C-AC05-4025-B403-FBB21542C7CA}" srcOrd="0" destOrd="0" parTransId="{C57FCC86-A828-446E-8FDC-473C255512D4}" sibTransId="{663A7A89-A667-4DA2-BDD2-F60705E245A2}"/>
    <dgm:cxn modelId="{952F3C9F-9053-4F93-AB8F-C3ABDF2C57C4}" type="presOf" srcId="{E9A60B7F-EAC9-406C-8B3B-416026F032A9}" destId="{115F9639-4FE1-4DB5-BAA4-9AD7B6BEAB94}" srcOrd="0" destOrd="0" presId="urn:microsoft.com/office/officeart/2018/2/layout/IconVerticalSolidList"/>
    <dgm:cxn modelId="{0CE201F3-F52C-4895-B172-1F7F1E05CA9E}" srcId="{E9A60B7F-EAC9-406C-8B3B-416026F032A9}" destId="{46C5C049-BBE2-486C-98BA-710034AD5EDF}" srcOrd="1" destOrd="0" parTransId="{456A0372-CC5D-471F-9B4A-91D3FE28C1EC}" sibTransId="{59EF22E3-3D06-43CA-8105-72B04CE9C7E6}"/>
    <dgm:cxn modelId="{E289929E-B764-41EA-BB61-29585A339227}" type="presParOf" srcId="{115F9639-4FE1-4DB5-BAA4-9AD7B6BEAB94}" destId="{D1EB44A8-EB62-488C-AA7A-A85E8B7F00FB}" srcOrd="0" destOrd="0" presId="urn:microsoft.com/office/officeart/2018/2/layout/IconVerticalSolidList"/>
    <dgm:cxn modelId="{4DA884F0-CE69-4575-9A7B-73E2D8794114}" type="presParOf" srcId="{D1EB44A8-EB62-488C-AA7A-A85E8B7F00FB}" destId="{C3D7CB19-57C2-4D19-A701-71CE269AC407}" srcOrd="0" destOrd="0" presId="urn:microsoft.com/office/officeart/2018/2/layout/IconVerticalSolidList"/>
    <dgm:cxn modelId="{7765AE20-5AEB-45FC-ADD8-094738D4798C}" type="presParOf" srcId="{D1EB44A8-EB62-488C-AA7A-A85E8B7F00FB}" destId="{8B0B6F1A-162A-4B89-9960-1A9291D4F47D}" srcOrd="1" destOrd="0" presId="urn:microsoft.com/office/officeart/2018/2/layout/IconVerticalSolidList"/>
    <dgm:cxn modelId="{571535F8-A46E-42D4-BAA5-9F031FC6EE44}" type="presParOf" srcId="{D1EB44A8-EB62-488C-AA7A-A85E8B7F00FB}" destId="{34175218-1AFB-414D-93BC-A09C003AA398}" srcOrd="2" destOrd="0" presId="urn:microsoft.com/office/officeart/2018/2/layout/IconVerticalSolidList"/>
    <dgm:cxn modelId="{757264CF-E413-43A7-B811-770533C73D7A}" type="presParOf" srcId="{D1EB44A8-EB62-488C-AA7A-A85E8B7F00FB}" destId="{45FEBE9B-CF84-4AE3-B8C6-E4796E883791}" srcOrd="3" destOrd="0" presId="urn:microsoft.com/office/officeart/2018/2/layout/IconVerticalSolidList"/>
    <dgm:cxn modelId="{468F44BC-5C11-43D8-A532-1A4A8238E0C2}" type="presParOf" srcId="{115F9639-4FE1-4DB5-BAA4-9AD7B6BEAB94}" destId="{CC0A84D0-00A1-497F-9338-6A96ECDBD127}" srcOrd="1" destOrd="0" presId="urn:microsoft.com/office/officeart/2018/2/layout/IconVerticalSolidList"/>
    <dgm:cxn modelId="{92AAFFF1-1C8E-422E-A496-A3AC6748D0BD}" type="presParOf" srcId="{115F9639-4FE1-4DB5-BAA4-9AD7B6BEAB94}" destId="{91392524-F4FF-47AF-9C70-09AA4DBCA9DE}" srcOrd="2" destOrd="0" presId="urn:microsoft.com/office/officeart/2018/2/layout/IconVerticalSolidList"/>
    <dgm:cxn modelId="{3643821C-4CE7-4DB0-A719-48904B96EAAE}" type="presParOf" srcId="{91392524-F4FF-47AF-9C70-09AA4DBCA9DE}" destId="{4C1B469F-8182-4431-9DFC-BECA182D50F3}" srcOrd="0" destOrd="0" presId="urn:microsoft.com/office/officeart/2018/2/layout/IconVerticalSolidList"/>
    <dgm:cxn modelId="{1DD0F790-6C9B-4974-97EE-DBC2E5AF53EF}" type="presParOf" srcId="{91392524-F4FF-47AF-9C70-09AA4DBCA9DE}" destId="{7BAA69A3-52A9-4913-9198-42FBD6632F9D}" srcOrd="1" destOrd="0" presId="urn:microsoft.com/office/officeart/2018/2/layout/IconVerticalSolidList"/>
    <dgm:cxn modelId="{55E67D43-0647-4A4F-BBBC-118421E2039F}" type="presParOf" srcId="{91392524-F4FF-47AF-9C70-09AA4DBCA9DE}" destId="{B1C29B74-8EAE-425D-904F-DEE450356FFF}" srcOrd="2" destOrd="0" presId="urn:microsoft.com/office/officeart/2018/2/layout/IconVerticalSolidList"/>
    <dgm:cxn modelId="{8BFB4F8A-33D9-4D4E-B963-D900F85F3996}" type="presParOf" srcId="{91392524-F4FF-47AF-9C70-09AA4DBCA9DE}" destId="{E9088390-110A-49C0-B676-1306B9CD10C6}" srcOrd="3" destOrd="0" presId="urn:microsoft.com/office/officeart/2018/2/layout/IconVerticalSolidList"/>
    <dgm:cxn modelId="{14A2A000-B13C-43B8-8C59-697140F7D2BD}" type="presParOf" srcId="{115F9639-4FE1-4DB5-BAA4-9AD7B6BEAB94}" destId="{75D6FFC6-FD09-42B6-9AEC-13453A6DB371}" srcOrd="3" destOrd="0" presId="urn:microsoft.com/office/officeart/2018/2/layout/IconVerticalSolidList"/>
    <dgm:cxn modelId="{C9AB329B-272B-4080-8F63-6125BF8DB443}" type="presParOf" srcId="{115F9639-4FE1-4DB5-BAA4-9AD7B6BEAB94}" destId="{ADEA32B3-EB0A-45CC-BABC-076456CDB192}" srcOrd="4" destOrd="0" presId="urn:microsoft.com/office/officeart/2018/2/layout/IconVerticalSolidList"/>
    <dgm:cxn modelId="{C68B9C2E-A1D8-45E1-9E9C-E1AA3FB5BB2B}" type="presParOf" srcId="{ADEA32B3-EB0A-45CC-BABC-076456CDB192}" destId="{A1134C17-0D5B-4B5F-BBA1-264223D4B9BF}" srcOrd="0" destOrd="0" presId="urn:microsoft.com/office/officeart/2018/2/layout/IconVerticalSolidList"/>
    <dgm:cxn modelId="{E4710DF1-6C93-4B03-84E3-0BA2EB13266E}" type="presParOf" srcId="{ADEA32B3-EB0A-45CC-BABC-076456CDB192}" destId="{C3ED6B60-965D-4E0D-8091-9B1057040CE2}" srcOrd="1" destOrd="0" presId="urn:microsoft.com/office/officeart/2018/2/layout/IconVerticalSolidList"/>
    <dgm:cxn modelId="{FA823EBB-F8D3-4FAB-96AA-21C4EC325FD1}" type="presParOf" srcId="{ADEA32B3-EB0A-45CC-BABC-076456CDB192}" destId="{9F76E067-F1C0-4A11-942D-DD86D5FFEB49}" srcOrd="2" destOrd="0" presId="urn:microsoft.com/office/officeart/2018/2/layout/IconVerticalSolidList"/>
    <dgm:cxn modelId="{6A5DF482-AF92-4F6F-BD18-9893949497C6}" type="presParOf" srcId="{ADEA32B3-EB0A-45CC-BABC-076456CDB192}" destId="{0E4D2B1C-46BC-4323-B751-CC20157965E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877AE6-483C-4E55-95B2-DD47D955734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AF4F1D6-CBB5-4196-A0F7-C9413267C1BD}">
      <dgm:prSet/>
      <dgm:spPr/>
      <dgm:t>
        <a:bodyPr/>
        <a:lstStyle/>
        <a:p>
          <a:r>
            <a:rPr lang="en-US"/>
            <a:t>Legal move generation and validation.</a:t>
          </a:r>
        </a:p>
      </dgm:t>
    </dgm:pt>
    <dgm:pt modelId="{D01FF28F-0407-4B69-8DA6-57041925F12A}" type="parTrans" cxnId="{5DC1418C-2291-442D-92CF-CFADE8411172}">
      <dgm:prSet/>
      <dgm:spPr/>
      <dgm:t>
        <a:bodyPr/>
        <a:lstStyle/>
        <a:p>
          <a:endParaRPr lang="en-US"/>
        </a:p>
      </dgm:t>
    </dgm:pt>
    <dgm:pt modelId="{C79A6D98-EE3E-4398-9B8C-8215F6F5B8A1}" type="sibTrans" cxnId="{5DC1418C-2291-442D-92CF-CFADE8411172}">
      <dgm:prSet/>
      <dgm:spPr/>
      <dgm:t>
        <a:bodyPr/>
        <a:lstStyle/>
        <a:p>
          <a:endParaRPr lang="en-US"/>
        </a:p>
      </dgm:t>
    </dgm:pt>
    <dgm:pt modelId="{BBB7978F-103D-4474-90D4-027042233D72}">
      <dgm:prSet/>
      <dgm:spPr/>
      <dgm:t>
        <a:bodyPr/>
        <a:lstStyle/>
        <a:p>
          <a:r>
            <a:rPr lang="en-US"/>
            <a:t>Checkmate, stalemate, draw condition detection.</a:t>
          </a:r>
        </a:p>
      </dgm:t>
    </dgm:pt>
    <dgm:pt modelId="{612D6EB0-FED6-423C-A7CD-9565EFEEAF79}" type="parTrans" cxnId="{BE30A023-0122-4D31-BC4A-640A84A72609}">
      <dgm:prSet/>
      <dgm:spPr/>
      <dgm:t>
        <a:bodyPr/>
        <a:lstStyle/>
        <a:p>
          <a:endParaRPr lang="en-US"/>
        </a:p>
      </dgm:t>
    </dgm:pt>
    <dgm:pt modelId="{0066F7BB-597F-43EB-9A23-F62C16439469}" type="sibTrans" cxnId="{BE30A023-0122-4D31-BC4A-640A84A72609}">
      <dgm:prSet/>
      <dgm:spPr/>
      <dgm:t>
        <a:bodyPr/>
        <a:lstStyle/>
        <a:p>
          <a:endParaRPr lang="en-US"/>
        </a:p>
      </dgm:t>
    </dgm:pt>
    <dgm:pt modelId="{AC6B9BC7-A5E9-4775-A77B-482A8FB492F3}">
      <dgm:prSet/>
      <dgm:spPr/>
      <dgm:t>
        <a:bodyPr/>
        <a:lstStyle/>
        <a:p>
          <a:r>
            <a:rPr lang="en-US"/>
            <a:t>Undo, resign, and captured pieces tracking.</a:t>
          </a:r>
        </a:p>
      </dgm:t>
    </dgm:pt>
    <dgm:pt modelId="{C22C94CD-3C0A-4802-B90B-945BB52BB13A}" type="parTrans" cxnId="{A6D787A1-16A0-416B-9290-4CF849B54FAB}">
      <dgm:prSet/>
      <dgm:spPr/>
      <dgm:t>
        <a:bodyPr/>
        <a:lstStyle/>
        <a:p>
          <a:endParaRPr lang="en-US"/>
        </a:p>
      </dgm:t>
    </dgm:pt>
    <dgm:pt modelId="{096852AA-38EC-43A8-98C8-3E8B291D7939}" type="sibTrans" cxnId="{A6D787A1-16A0-416B-9290-4CF849B54FAB}">
      <dgm:prSet/>
      <dgm:spPr/>
      <dgm:t>
        <a:bodyPr/>
        <a:lstStyle/>
        <a:p>
          <a:endParaRPr lang="en-US"/>
        </a:p>
      </dgm:t>
    </dgm:pt>
    <dgm:pt modelId="{E146B0FF-668F-412E-B4C5-2998000F98C7}">
      <dgm:prSet/>
      <dgm:spPr/>
      <dgm:t>
        <a:bodyPr/>
        <a:lstStyle/>
        <a:p>
          <a:r>
            <a:rPr lang="en-US"/>
            <a:t>Evaluation bar and status display.</a:t>
          </a:r>
        </a:p>
      </dgm:t>
    </dgm:pt>
    <dgm:pt modelId="{8A5A8EB1-8853-41FC-87A2-D012273E96A6}" type="parTrans" cxnId="{2D595DA1-864A-41AA-88FA-1A6C1CC98433}">
      <dgm:prSet/>
      <dgm:spPr/>
      <dgm:t>
        <a:bodyPr/>
        <a:lstStyle/>
        <a:p>
          <a:endParaRPr lang="en-US"/>
        </a:p>
      </dgm:t>
    </dgm:pt>
    <dgm:pt modelId="{F2032751-4292-4A0B-ABB3-B3FF8918FA8F}" type="sibTrans" cxnId="{2D595DA1-864A-41AA-88FA-1A6C1CC98433}">
      <dgm:prSet/>
      <dgm:spPr/>
      <dgm:t>
        <a:bodyPr/>
        <a:lstStyle/>
        <a:p>
          <a:endParaRPr lang="en-US"/>
        </a:p>
      </dgm:t>
    </dgm:pt>
    <dgm:pt modelId="{3DF6FBE7-E3DC-4EEC-AAE3-35C5F5BB5C90}" type="pres">
      <dgm:prSet presAssocID="{9F877AE6-483C-4E55-95B2-DD47D955734D}" presName="linear" presStyleCnt="0">
        <dgm:presLayoutVars>
          <dgm:animLvl val="lvl"/>
          <dgm:resizeHandles val="exact"/>
        </dgm:presLayoutVars>
      </dgm:prSet>
      <dgm:spPr/>
    </dgm:pt>
    <dgm:pt modelId="{9E722AFD-03B9-4AD8-8229-21BE8A0C16AD}" type="pres">
      <dgm:prSet presAssocID="{EAF4F1D6-CBB5-4196-A0F7-C9413267C1BD}" presName="parentText" presStyleLbl="node1" presStyleIdx="0" presStyleCnt="4">
        <dgm:presLayoutVars>
          <dgm:chMax val="0"/>
          <dgm:bulletEnabled val="1"/>
        </dgm:presLayoutVars>
      </dgm:prSet>
      <dgm:spPr/>
    </dgm:pt>
    <dgm:pt modelId="{D19B2581-9D0C-4D72-887C-9706D7802E5A}" type="pres">
      <dgm:prSet presAssocID="{C79A6D98-EE3E-4398-9B8C-8215F6F5B8A1}" presName="spacer" presStyleCnt="0"/>
      <dgm:spPr/>
    </dgm:pt>
    <dgm:pt modelId="{19892014-735B-4902-ABA3-27C6C7E37B86}" type="pres">
      <dgm:prSet presAssocID="{BBB7978F-103D-4474-90D4-027042233D72}" presName="parentText" presStyleLbl="node1" presStyleIdx="1" presStyleCnt="4">
        <dgm:presLayoutVars>
          <dgm:chMax val="0"/>
          <dgm:bulletEnabled val="1"/>
        </dgm:presLayoutVars>
      </dgm:prSet>
      <dgm:spPr/>
    </dgm:pt>
    <dgm:pt modelId="{A988FE7D-6CAA-4040-A808-30B68641B71A}" type="pres">
      <dgm:prSet presAssocID="{0066F7BB-597F-43EB-9A23-F62C16439469}" presName="spacer" presStyleCnt="0"/>
      <dgm:spPr/>
    </dgm:pt>
    <dgm:pt modelId="{7A1969C2-C1E5-4698-A03B-A297D09D7D54}" type="pres">
      <dgm:prSet presAssocID="{AC6B9BC7-A5E9-4775-A77B-482A8FB492F3}" presName="parentText" presStyleLbl="node1" presStyleIdx="2" presStyleCnt="4">
        <dgm:presLayoutVars>
          <dgm:chMax val="0"/>
          <dgm:bulletEnabled val="1"/>
        </dgm:presLayoutVars>
      </dgm:prSet>
      <dgm:spPr/>
    </dgm:pt>
    <dgm:pt modelId="{62F84810-7689-401E-97FE-55BFFA907A75}" type="pres">
      <dgm:prSet presAssocID="{096852AA-38EC-43A8-98C8-3E8B291D7939}" presName="spacer" presStyleCnt="0"/>
      <dgm:spPr/>
    </dgm:pt>
    <dgm:pt modelId="{502826A4-EF3E-4C62-A29F-318398E843B1}" type="pres">
      <dgm:prSet presAssocID="{E146B0FF-668F-412E-B4C5-2998000F98C7}" presName="parentText" presStyleLbl="node1" presStyleIdx="3" presStyleCnt="4">
        <dgm:presLayoutVars>
          <dgm:chMax val="0"/>
          <dgm:bulletEnabled val="1"/>
        </dgm:presLayoutVars>
      </dgm:prSet>
      <dgm:spPr/>
    </dgm:pt>
  </dgm:ptLst>
  <dgm:cxnLst>
    <dgm:cxn modelId="{54C40015-4C8C-43AD-92EA-BF846BF686AC}" type="presOf" srcId="{E146B0FF-668F-412E-B4C5-2998000F98C7}" destId="{502826A4-EF3E-4C62-A29F-318398E843B1}" srcOrd="0" destOrd="0" presId="urn:microsoft.com/office/officeart/2005/8/layout/vList2"/>
    <dgm:cxn modelId="{63D06322-D489-4F8F-8085-F5A40B6209FE}" type="presOf" srcId="{BBB7978F-103D-4474-90D4-027042233D72}" destId="{19892014-735B-4902-ABA3-27C6C7E37B86}" srcOrd="0" destOrd="0" presId="urn:microsoft.com/office/officeart/2005/8/layout/vList2"/>
    <dgm:cxn modelId="{BE30A023-0122-4D31-BC4A-640A84A72609}" srcId="{9F877AE6-483C-4E55-95B2-DD47D955734D}" destId="{BBB7978F-103D-4474-90D4-027042233D72}" srcOrd="1" destOrd="0" parTransId="{612D6EB0-FED6-423C-A7CD-9565EFEEAF79}" sibTransId="{0066F7BB-597F-43EB-9A23-F62C16439469}"/>
    <dgm:cxn modelId="{C8082A75-70B8-475B-9F1C-123D98DB2606}" type="presOf" srcId="{EAF4F1D6-CBB5-4196-A0F7-C9413267C1BD}" destId="{9E722AFD-03B9-4AD8-8229-21BE8A0C16AD}" srcOrd="0" destOrd="0" presId="urn:microsoft.com/office/officeart/2005/8/layout/vList2"/>
    <dgm:cxn modelId="{5DC1418C-2291-442D-92CF-CFADE8411172}" srcId="{9F877AE6-483C-4E55-95B2-DD47D955734D}" destId="{EAF4F1D6-CBB5-4196-A0F7-C9413267C1BD}" srcOrd="0" destOrd="0" parTransId="{D01FF28F-0407-4B69-8DA6-57041925F12A}" sibTransId="{C79A6D98-EE3E-4398-9B8C-8215F6F5B8A1}"/>
    <dgm:cxn modelId="{2D595DA1-864A-41AA-88FA-1A6C1CC98433}" srcId="{9F877AE6-483C-4E55-95B2-DD47D955734D}" destId="{E146B0FF-668F-412E-B4C5-2998000F98C7}" srcOrd="3" destOrd="0" parTransId="{8A5A8EB1-8853-41FC-87A2-D012273E96A6}" sibTransId="{F2032751-4292-4A0B-ABB3-B3FF8918FA8F}"/>
    <dgm:cxn modelId="{A6D787A1-16A0-416B-9290-4CF849B54FAB}" srcId="{9F877AE6-483C-4E55-95B2-DD47D955734D}" destId="{AC6B9BC7-A5E9-4775-A77B-482A8FB492F3}" srcOrd="2" destOrd="0" parTransId="{C22C94CD-3C0A-4802-B90B-945BB52BB13A}" sibTransId="{096852AA-38EC-43A8-98C8-3E8B291D7939}"/>
    <dgm:cxn modelId="{A86FD5AA-55EC-4903-BD8F-ACE893F56B63}" type="presOf" srcId="{9F877AE6-483C-4E55-95B2-DD47D955734D}" destId="{3DF6FBE7-E3DC-4EEC-AAE3-35C5F5BB5C90}" srcOrd="0" destOrd="0" presId="urn:microsoft.com/office/officeart/2005/8/layout/vList2"/>
    <dgm:cxn modelId="{CEDEDDC6-1F49-4EE6-8F17-F463399CCC53}" type="presOf" srcId="{AC6B9BC7-A5E9-4775-A77B-482A8FB492F3}" destId="{7A1969C2-C1E5-4698-A03B-A297D09D7D54}" srcOrd="0" destOrd="0" presId="urn:microsoft.com/office/officeart/2005/8/layout/vList2"/>
    <dgm:cxn modelId="{F74FEC9A-19C3-4184-814B-94D5E01A3BC8}" type="presParOf" srcId="{3DF6FBE7-E3DC-4EEC-AAE3-35C5F5BB5C90}" destId="{9E722AFD-03B9-4AD8-8229-21BE8A0C16AD}" srcOrd="0" destOrd="0" presId="urn:microsoft.com/office/officeart/2005/8/layout/vList2"/>
    <dgm:cxn modelId="{D3692C92-C12E-4898-A628-E5595378D1E6}" type="presParOf" srcId="{3DF6FBE7-E3DC-4EEC-AAE3-35C5F5BB5C90}" destId="{D19B2581-9D0C-4D72-887C-9706D7802E5A}" srcOrd="1" destOrd="0" presId="urn:microsoft.com/office/officeart/2005/8/layout/vList2"/>
    <dgm:cxn modelId="{45F89539-3241-4269-AEEA-AED3946EB762}" type="presParOf" srcId="{3DF6FBE7-E3DC-4EEC-AAE3-35C5F5BB5C90}" destId="{19892014-735B-4902-ABA3-27C6C7E37B86}" srcOrd="2" destOrd="0" presId="urn:microsoft.com/office/officeart/2005/8/layout/vList2"/>
    <dgm:cxn modelId="{6DAE3EC1-3068-4969-8EDD-49780031E9CF}" type="presParOf" srcId="{3DF6FBE7-E3DC-4EEC-AAE3-35C5F5BB5C90}" destId="{A988FE7D-6CAA-4040-A808-30B68641B71A}" srcOrd="3" destOrd="0" presId="urn:microsoft.com/office/officeart/2005/8/layout/vList2"/>
    <dgm:cxn modelId="{3EB429AE-1740-46FF-AAC6-9C9091149860}" type="presParOf" srcId="{3DF6FBE7-E3DC-4EEC-AAE3-35C5F5BB5C90}" destId="{7A1969C2-C1E5-4698-A03B-A297D09D7D54}" srcOrd="4" destOrd="0" presId="urn:microsoft.com/office/officeart/2005/8/layout/vList2"/>
    <dgm:cxn modelId="{852EF588-9F89-4B7F-88D1-666D6E2B7CF8}" type="presParOf" srcId="{3DF6FBE7-E3DC-4EEC-AAE3-35C5F5BB5C90}" destId="{62F84810-7689-401E-97FE-55BFFA907A75}" srcOrd="5" destOrd="0" presId="urn:microsoft.com/office/officeart/2005/8/layout/vList2"/>
    <dgm:cxn modelId="{0BFDE177-2D0C-49DD-A507-5E113FB8A682}" type="presParOf" srcId="{3DF6FBE7-E3DC-4EEC-AAE3-35C5F5BB5C90}" destId="{502826A4-EF3E-4C62-A29F-318398E843B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74DEB4-9BC3-475A-A3A3-5022BF9BB77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D8B50AF-EF6C-42DC-A857-047558CB7C12}">
      <dgm:prSet/>
      <dgm:spPr/>
      <dgm:t>
        <a:bodyPr/>
        <a:lstStyle/>
        <a:p>
          <a:r>
            <a:rPr lang="en-US"/>
            <a:t>Language: Python</a:t>
          </a:r>
        </a:p>
      </dgm:t>
    </dgm:pt>
    <dgm:pt modelId="{81E57761-80A2-49AE-B994-AD7AEBCC569E}" type="parTrans" cxnId="{284C2898-C213-4432-8EF0-5AA69F8927F8}">
      <dgm:prSet/>
      <dgm:spPr/>
      <dgm:t>
        <a:bodyPr/>
        <a:lstStyle/>
        <a:p>
          <a:endParaRPr lang="en-US"/>
        </a:p>
      </dgm:t>
    </dgm:pt>
    <dgm:pt modelId="{668FD272-13DD-4B4E-A8F2-340C579F62EC}" type="sibTrans" cxnId="{284C2898-C213-4432-8EF0-5AA69F8927F8}">
      <dgm:prSet/>
      <dgm:spPr/>
      <dgm:t>
        <a:bodyPr/>
        <a:lstStyle/>
        <a:p>
          <a:endParaRPr lang="en-US"/>
        </a:p>
      </dgm:t>
    </dgm:pt>
    <dgm:pt modelId="{F8FC9BCB-7151-45C2-B140-75A3AFAC53F4}">
      <dgm:prSet/>
      <dgm:spPr/>
      <dgm:t>
        <a:bodyPr/>
        <a:lstStyle/>
        <a:p>
          <a:r>
            <a:rPr lang="en-US"/>
            <a:t>Libraries: Pygame for GUI.</a:t>
          </a:r>
        </a:p>
      </dgm:t>
    </dgm:pt>
    <dgm:pt modelId="{F117B480-190B-496E-81CE-9655B6E8093B}" type="parTrans" cxnId="{FF22617B-E22B-4416-83C4-A02393CF3172}">
      <dgm:prSet/>
      <dgm:spPr/>
      <dgm:t>
        <a:bodyPr/>
        <a:lstStyle/>
        <a:p>
          <a:endParaRPr lang="en-US"/>
        </a:p>
      </dgm:t>
    </dgm:pt>
    <dgm:pt modelId="{4A08C703-342C-4B2A-9610-C98F730EA4C2}" type="sibTrans" cxnId="{FF22617B-E22B-4416-83C4-A02393CF3172}">
      <dgm:prSet/>
      <dgm:spPr/>
      <dgm:t>
        <a:bodyPr/>
        <a:lstStyle/>
        <a:p>
          <a:endParaRPr lang="en-US"/>
        </a:p>
      </dgm:t>
    </dgm:pt>
    <dgm:pt modelId="{DB8A998C-73B1-4FFD-BC3A-A05219F1E766}">
      <dgm:prSet/>
      <dgm:spPr/>
      <dgm:t>
        <a:bodyPr/>
        <a:lstStyle/>
        <a:p>
          <a:r>
            <a:rPr lang="en-US"/>
            <a:t>Algorithms: Minimax with Alpha-Beta Pruning.</a:t>
          </a:r>
        </a:p>
      </dgm:t>
    </dgm:pt>
    <dgm:pt modelId="{6E4268E9-31A0-4120-B3B6-1046A6E9A987}" type="parTrans" cxnId="{2BC29938-7214-42E1-B157-FD39F682D2E3}">
      <dgm:prSet/>
      <dgm:spPr/>
      <dgm:t>
        <a:bodyPr/>
        <a:lstStyle/>
        <a:p>
          <a:endParaRPr lang="en-US"/>
        </a:p>
      </dgm:t>
    </dgm:pt>
    <dgm:pt modelId="{24093842-640E-46ED-A5FC-3F5593D8C856}" type="sibTrans" cxnId="{2BC29938-7214-42E1-B157-FD39F682D2E3}">
      <dgm:prSet/>
      <dgm:spPr/>
      <dgm:t>
        <a:bodyPr/>
        <a:lstStyle/>
        <a:p>
          <a:endParaRPr lang="en-US"/>
        </a:p>
      </dgm:t>
    </dgm:pt>
    <dgm:pt modelId="{87617EFC-6AFF-4F2D-B2C5-95D707D0E46A}">
      <dgm:prSet/>
      <dgm:spPr/>
      <dgm:t>
        <a:bodyPr/>
        <a:lstStyle/>
        <a:p>
          <a:r>
            <a:rPr lang="en-US"/>
            <a:t>Structure: Modular, object-oriented design.</a:t>
          </a:r>
        </a:p>
      </dgm:t>
    </dgm:pt>
    <dgm:pt modelId="{BAFBDE15-1B36-479D-887F-6EF3DAFE98EF}" type="parTrans" cxnId="{ED002C9B-FB52-4D94-9534-2EB6335D8A41}">
      <dgm:prSet/>
      <dgm:spPr/>
      <dgm:t>
        <a:bodyPr/>
        <a:lstStyle/>
        <a:p>
          <a:endParaRPr lang="en-US"/>
        </a:p>
      </dgm:t>
    </dgm:pt>
    <dgm:pt modelId="{9E3C2B98-3986-4AFE-A83F-74436B3F41AD}" type="sibTrans" cxnId="{ED002C9B-FB52-4D94-9534-2EB6335D8A41}">
      <dgm:prSet/>
      <dgm:spPr/>
      <dgm:t>
        <a:bodyPr/>
        <a:lstStyle/>
        <a:p>
          <a:endParaRPr lang="en-US"/>
        </a:p>
      </dgm:t>
    </dgm:pt>
    <dgm:pt modelId="{FBA0381A-C86F-4334-8610-D978318EB12F}" type="pres">
      <dgm:prSet presAssocID="{8974DEB4-9BC3-475A-A3A3-5022BF9BB774}" presName="vert0" presStyleCnt="0">
        <dgm:presLayoutVars>
          <dgm:dir/>
          <dgm:animOne val="branch"/>
          <dgm:animLvl val="lvl"/>
        </dgm:presLayoutVars>
      </dgm:prSet>
      <dgm:spPr/>
    </dgm:pt>
    <dgm:pt modelId="{42C7A8FF-D74D-4F25-AC6A-2DCBCC36DE4F}" type="pres">
      <dgm:prSet presAssocID="{0D8B50AF-EF6C-42DC-A857-047558CB7C12}" presName="thickLine" presStyleLbl="alignNode1" presStyleIdx="0" presStyleCnt="4"/>
      <dgm:spPr/>
    </dgm:pt>
    <dgm:pt modelId="{D58A3463-132A-4688-8D7C-738BED099545}" type="pres">
      <dgm:prSet presAssocID="{0D8B50AF-EF6C-42DC-A857-047558CB7C12}" presName="horz1" presStyleCnt="0"/>
      <dgm:spPr/>
    </dgm:pt>
    <dgm:pt modelId="{59D317DB-F10A-4848-9C65-C8EB60DE3920}" type="pres">
      <dgm:prSet presAssocID="{0D8B50AF-EF6C-42DC-A857-047558CB7C12}" presName="tx1" presStyleLbl="revTx" presStyleIdx="0" presStyleCnt="4"/>
      <dgm:spPr/>
    </dgm:pt>
    <dgm:pt modelId="{8614B720-A4EC-43D9-8B70-37F353E0539F}" type="pres">
      <dgm:prSet presAssocID="{0D8B50AF-EF6C-42DC-A857-047558CB7C12}" presName="vert1" presStyleCnt="0"/>
      <dgm:spPr/>
    </dgm:pt>
    <dgm:pt modelId="{5D968FBA-98DB-4D5F-BC76-DD7C6B443F62}" type="pres">
      <dgm:prSet presAssocID="{F8FC9BCB-7151-45C2-B140-75A3AFAC53F4}" presName="thickLine" presStyleLbl="alignNode1" presStyleIdx="1" presStyleCnt="4"/>
      <dgm:spPr/>
    </dgm:pt>
    <dgm:pt modelId="{C6DFEDF2-4AA0-4322-8A73-C5E9A73F3E72}" type="pres">
      <dgm:prSet presAssocID="{F8FC9BCB-7151-45C2-B140-75A3AFAC53F4}" presName="horz1" presStyleCnt="0"/>
      <dgm:spPr/>
    </dgm:pt>
    <dgm:pt modelId="{F3AA43F9-3FD6-4587-9D37-D470C9E96312}" type="pres">
      <dgm:prSet presAssocID="{F8FC9BCB-7151-45C2-B140-75A3AFAC53F4}" presName="tx1" presStyleLbl="revTx" presStyleIdx="1" presStyleCnt="4"/>
      <dgm:spPr/>
    </dgm:pt>
    <dgm:pt modelId="{5A9DC285-DE9E-4CA0-848B-5DC2C90AEA0F}" type="pres">
      <dgm:prSet presAssocID="{F8FC9BCB-7151-45C2-B140-75A3AFAC53F4}" presName="vert1" presStyleCnt="0"/>
      <dgm:spPr/>
    </dgm:pt>
    <dgm:pt modelId="{B42FF773-8BB6-4108-B5CC-C7B6D290532B}" type="pres">
      <dgm:prSet presAssocID="{DB8A998C-73B1-4FFD-BC3A-A05219F1E766}" presName="thickLine" presStyleLbl="alignNode1" presStyleIdx="2" presStyleCnt="4"/>
      <dgm:spPr/>
    </dgm:pt>
    <dgm:pt modelId="{E15F382E-1CAB-4ABA-B9C4-CAEEFCF88D69}" type="pres">
      <dgm:prSet presAssocID="{DB8A998C-73B1-4FFD-BC3A-A05219F1E766}" presName="horz1" presStyleCnt="0"/>
      <dgm:spPr/>
    </dgm:pt>
    <dgm:pt modelId="{A95AA9BD-636B-4DC2-9FEF-80580920113B}" type="pres">
      <dgm:prSet presAssocID="{DB8A998C-73B1-4FFD-BC3A-A05219F1E766}" presName="tx1" presStyleLbl="revTx" presStyleIdx="2" presStyleCnt="4"/>
      <dgm:spPr/>
    </dgm:pt>
    <dgm:pt modelId="{CC8F24DA-D2D8-46CD-BAF2-3EB70F497C90}" type="pres">
      <dgm:prSet presAssocID="{DB8A998C-73B1-4FFD-BC3A-A05219F1E766}" presName="vert1" presStyleCnt="0"/>
      <dgm:spPr/>
    </dgm:pt>
    <dgm:pt modelId="{9801528C-AA35-4D66-8A4D-D6F3C1DCCADA}" type="pres">
      <dgm:prSet presAssocID="{87617EFC-6AFF-4F2D-B2C5-95D707D0E46A}" presName="thickLine" presStyleLbl="alignNode1" presStyleIdx="3" presStyleCnt="4"/>
      <dgm:spPr/>
    </dgm:pt>
    <dgm:pt modelId="{D878851A-C4F0-4A79-8FA0-05F3001A42C0}" type="pres">
      <dgm:prSet presAssocID="{87617EFC-6AFF-4F2D-B2C5-95D707D0E46A}" presName="horz1" presStyleCnt="0"/>
      <dgm:spPr/>
    </dgm:pt>
    <dgm:pt modelId="{FC60F223-7623-4B3C-BD56-0C8CA0CADD95}" type="pres">
      <dgm:prSet presAssocID="{87617EFC-6AFF-4F2D-B2C5-95D707D0E46A}" presName="tx1" presStyleLbl="revTx" presStyleIdx="3" presStyleCnt="4"/>
      <dgm:spPr/>
    </dgm:pt>
    <dgm:pt modelId="{AE07A8B5-B6FC-49DF-9F17-69454CDF5D99}" type="pres">
      <dgm:prSet presAssocID="{87617EFC-6AFF-4F2D-B2C5-95D707D0E46A}" presName="vert1" presStyleCnt="0"/>
      <dgm:spPr/>
    </dgm:pt>
  </dgm:ptLst>
  <dgm:cxnLst>
    <dgm:cxn modelId="{2D210C30-983B-458C-9693-7216C90BBFF5}" type="presOf" srcId="{0D8B50AF-EF6C-42DC-A857-047558CB7C12}" destId="{59D317DB-F10A-4848-9C65-C8EB60DE3920}" srcOrd="0" destOrd="0" presId="urn:microsoft.com/office/officeart/2008/layout/LinedList"/>
    <dgm:cxn modelId="{2BC29938-7214-42E1-B157-FD39F682D2E3}" srcId="{8974DEB4-9BC3-475A-A3A3-5022BF9BB774}" destId="{DB8A998C-73B1-4FFD-BC3A-A05219F1E766}" srcOrd="2" destOrd="0" parTransId="{6E4268E9-31A0-4120-B3B6-1046A6E9A987}" sibTransId="{24093842-640E-46ED-A5FC-3F5593D8C856}"/>
    <dgm:cxn modelId="{54A1524F-D144-42F9-A87F-A470AC10E798}" type="presOf" srcId="{DB8A998C-73B1-4FFD-BC3A-A05219F1E766}" destId="{A95AA9BD-636B-4DC2-9FEF-80580920113B}" srcOrd="0" destOrd="0" presId="urn:microsoft.com/office/officeart/2008/layout/LinedList"/>
    <dgm:cxn modelId="{5A49207B-F3D0-4A32-8AC9-D73C33E2C323}" type="presOf" srcId="{87617EFC-6AFF-4F2D-B2C5-95D707D0E46A}" destId="{FC60F223-7623-4B3C-BD56-0C8CA0CADD95}" srcOrd="0" destOrd="0" presId="urn:microsoft.com/office/officeart/2008/layout/LinedList"/>
    <dgm:cxn modelId="{FF22617B-E22B-4416-83C4-A02393CF3172}" srcId="{8974DEB4-9BC3-475A-A3A3-5022BF9BB774}" destId="{F8FC9BCB-7151-45C2-B140-75A3AFAC53F4}" srcOrd="1" destOrd="0" parTransId="{F117B480-190B-496E-81CE-9655B6E8093B}" sibTransId="{4A08C703-342C-4B2A-9610-C98F730EA4C2}"/>
    <dgm:cxn modelId="{284C2898-C213-4432-8EF0-5AA69F8927F8}" srcId="{8974DEB4-9BC3-475A-A3A3-5022BF9BB774}" destId="{0D8B50AF-EF6C-42DC-A857-047558CB7C12}" srcOrd="0" destOrd="0" parTransId="{81E57761-80A2-49AE-B994-AD7AEBCC569E}" sibTransId="{668FD272-13DD-4B4E-A8F2-340C579F62EC}"/>
    <dgm:cxn modelId="{ED002C9B-FB52-4D94-9534-2EB6335D8A41}" srcId="{8974DEB4-9BC3-475A-A3A3-5022BF9BB774}" destId="{87617EFC-6AFF-4F2D-B2C5-95D707D0E46A}" srcOrd="3" destOrd="0" parTransId="{BAFBDE15-1B36-479D-887F-6EF3DAFE98EF}" sibTransId="{9E3C2B98-3986-4AFE-A83F-74436B3F41AD}"/>
    <dgm:cxn modelId="{9051029D-7932-49AF-B851-0C6A57B63D3A}" type="presOf" srcId="{8974DEB4-9BC3-475A-A3A3-5022BF9BB774}" destId="{FBA0381A-C86F-4334-8610-D978318EB12F}" srcOrd="0" destOrd="0" presId="urn:microsoft.com/office/officeart/2008/layout/LinedList"/>
    <dgm:cxn modelId="{94CF94D4-4E68-4E2C-A5E4-6082461A8784}" type="presOf" srcId="{F8FC9BCB-7151-45C2-B140-75A3AFAC53F4}" destId="{F3AA43F9-3FD6-4587-9D37-D470C9E96312}" srcOrd="0" destOrd="0" presId="urn:microsoft.com/office/officeart/2008/layout/LinedList"/>
    <dgm:cxn modelId="{7FC68736-510C-4664-8F3F-B63EA8F5CD95}" type="presParOf" srcId="{FBA0381A-C86F-4334-8610-D978318EB12F}" destId="{42C7A8FF-D74D-4F25-AC6A-2DCBCC36DE4F}" srcOrd="0" destOrd="0" presId="urn:microsoft.com/office/officeart/2008/layout/LinedList"/>
    <dgm:cxn modelId="{3228D3D6-7D34-4A3E-A167-2F16717CECA0}" type="presParOf" srcId="{FBA0381A-C86F-4334-8610-D978318EB12F}" destId="{D58A3463-132A-4688-8D7C-738BED099545}" srcOrd="1" destOrd="0" presId="urn:microsoft.com/office/officeart/2008/layout/LinedList"/>
    <dgm:cxn modelId="{EEC29F3A-8C82-4F1A-8F41-555C2018B679}" type="presParOf" srcId="{D58A3463-132A-4688-8D7C-738BED099545}" destId="{59D317DB-F10A-4848-9C65-C8EB60DE3920}" srcOrd="0" destOrd="0" presId="urn:microsoft.com/office/officeart/2008/layout/LinedList"/>
    <dgm:cxn modelId="{C067B343-9409-48F2-9242-6BB905EF011F}" type="presParOf" srcId="{D58A3463-132A-4688-8D7C-738BED099545}" destId="{8614B720-A4EC-43D9-8B70-37F353E0539F}" srcOrd="1" destOrd="0" presId="urn:microsoft.com/office/officeart/2008/layout/LinedList"/>
    <dgm:cxn modelId="{CBB2EC9E-3E01-449F-A73F-E4DD111AE4E6}" type="presParOf" srcId="{FBA0381A-C86F-4334-8610-D978318EB12F}" destId="{5D968FBA-98DB-4D5F-BC76-DD7C6B443F62}" srcOrd="2" destOrd="0" presId="urn:microsoft.com/office/officeart/2008/layout/LinedList"/>
    <dgm:cxn modelId="{DEF568C8-A085-4955-88F4-436C26CA493D}" type="presParOf" srcId="{FBA0381A-C86F-4334-8610-D978318EB12F}" destId="{C6DFEDF2-4AA0-4322-8A73-C5E9A73F3E72}" srcOrd="3" destOrd="0" presId="urn:microsoft.com/office/officeart/2008/layout/LinedList"/>
    <dgm:cxn modelId="{580BDA88-4075-47F9-8B8D-C9B1C448F1A8}" type="presParOf" srcId="{C6DFEDF2-4AA0-4322-8A73-C5E9A73F3E72}" destId="{F3AA43F9-3FD6-4587-9D37-D470C9E96312}" srcOrd="0" destOrd="0" presId="urn:microsoft.com/office/officeart/2008/layout/LinedList"/>
    <dgm:cxn modelId="{FA5ED9AD-1C43-4A27-8362-3644D92D567D}" type="presParOf" srcId="{C6DFEDF2-4AA0-4322-8A73-C5E9A73F3E72}" destId="{5A9DC285-DE9E-4CA0-848B-5DC2C90AEA0F}" srcOrd="1" destOrd="0" presId="urn:microsoft.com/office/officeart/2008/layout/LinedList"/>
    <dgm:cxn modelId="{A4CD0289-1337-4699-9E63-1879D124672C}" type="presParOf" srcId="{FBA0381A-C86F-4334-8610-D978318EB12F}" destId="{B42FF773-8BB6-4108-B5CC-C7B6D290532B}" srcOrd="4" destOrd="0" presId="urn:microsoft.com/office/officeart/2008/layout/LinedList"/>
    <dgm:cxn modelId="{DEB5D04D-6769-4EB0-A910-6B9195043B97}" type="presParOf" srcId="{FBA0381A-C86F-4334-8610-D978318EB12F}" destId="{E15F382E-1CAB-4ABA-B9C4-CAEEFCF88D69}" srcOrd="5" destOrd="0" presId="urn:microsoft.com/office/officeart/2008/layout/LinedList"/>
    <dgm:cxn modelId="{7DE9C9B4-560B-4531-B141-B43D26D1A4E8}" type="presParOf" srcId="{E15F382E-1CAB-4ABA-B9C4-CAEEFCF88D69}" destId="{A95AA9BD-636B-4DC2-9FEF-80580920113B}" srcOrd="0" destOrd="0" presId="urn:microsoft.com/office/officeart/2008/layout/LinedList"/>
    <dgm:cxn modelId="{294547DF-F34D-4625-A3B0-1AB6F306400A}" type="presParOf" srcId="{E15F382E-1CAB-4ABA-B9C4-CAEEFCF88D69}" destId="{CC8F24DA-D2D8-46CD-BAF2-3EB70F497C90}" srcOrd="1" destOrd="0" presId="urn:microsoft.com/office/officeart/2008/layout/LinedList"/>
    <dgm:cxn modelId="{B9AFF457-82C3-4B80-B305-FAD3B55F928A}" type="presParOf" srcId="{FBA0381A-C86F-4334-8610-D978318EB12F}" destId="{9801528C-AA35-4D66-8A4D-D6F3C1DCCADA}" srcOrd="6" destOrd="0" presId="urn:microsoft.com/office/officeart/2008/layout/LinedList"/>
    <dgm:cxn modelId="{03AC4A67-BA5F-4F05-AAE3-F71E933BBD5E}" type="presParOf" srcId="{FBA0381A-C86F-4334-8610-D978318EB12F}" destId="{D878851A-C4F0-4A79-8FA0-05F3001A42C0}" srcOrd="7" destOrd="0" presId="urn:microsoft.com/office/officeart/2008/layout/LinedList"/>
    <dgm:cxn modelId="{A945E283-3CA9-406D-9160-86BCD533CA71}" type="presParOf" srcId="{D878851A-C4F0-4A79-8FA0-05F3001A42C0}" destId="{FC60F223-7623-4B3C-BD56-0C8CA0CADD95}" srcOrd="0" destOrd="0" presId="urn:microsoft.com/office/officeart/2008/layout/LinedList"/>
    <dgm:cxn modelId="{9F968855-3BBC-4CB6-96F3-D463BDF3ACD8}" type="presParOf" srcId="{D878851A-C4F0-4A79-8FA0-05F3001A42C0}" destId="{AE07A8B5-B6FC-49DF-9F17-69454CDF5D9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D7CB19-57C2-4D19-A701-71CE269AC407}">
      <dsp:nvSpPr>
        <dsp:cNvPr id="0" name=""/>
        <dsp:cNvSpPr/>
      </dsp:nvSpPr>
      <dsp:spPr>
        <a:xfrm>
          <a:off x="0" y="663"/>
          <a:ext cx="4381571" cy="15514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0B6F1A-162A-4B89-9960-1A9291D4F47D}">
      <dsp:nvSpPr>
        <dsp:cNvPr id="0" name=""/>
        <dsp:cNvSpPr/>
      </dsp:nvSpPr>
      <dsp:spPr>
        <a:xfrm>
          <a:off x="469311" y="349737"/>
          <a:ext cx="853293" cy="8532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FEBE9B-CF84-4AE3-B8C6-E4796E883791}">
      <dsp:nvSpPr>
        <dsp:cNvPr id="0" name=""/>
        <dsp:cNvSpPr/>
      </dsp:nvSpPr>
      <dsp:spPr>
        <a:xfrm>
          <a:off x="1791916" y="663"/>
          <a:ext cx="2589654" cy="1551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194" tIns="164194" rIns="164194" bIns="164194" numCol="1" spcCol="1270" anchor="ctr" anchorCtr="0">
          <a:noAutofit/>
        </a:bodyPr>
        <a:lstStyle/>
        <a:p>
          <a:pPr marL="0" lvl="0" indent="0" algn="l" defTabSz="844550">
            <a:lnSpc>
              <a:spcPct val="100000"/>
            </a:lnSpc>
            <a:spcBef>
              <a:spcPct val="0"/>
            </a:spcBef>
            <a:spcAft>
              <a:spcPct val="35000"/>
            </a:spcAft>
            <a:buNone/>
          </a:pPr>
          <a:r>
            <a:rPr lang="en-US" sz="1900" kern="1200"/>
            <a:t>Chess is a strategic game with complex rules and AI challenges.</a:t>
          </a:r>
        </a:p>
      </dsp:txBody>
      <dsp:txXfrm>
        <a:off x="1791916" y="663"/>
        <a:ext cx="2589654" cy="1551442"/>
      </dsp:txXfrm>
    </dsp:sp>
    <dsp:sp modelId="{4C1B469F-8182-4431-9DFC-BECA182D50F3}">
      <dsp:nvSpPr>
        <dsp:cNvPr id="0" name=""/>
        <dsp:cNvSpPr/>
      </dsp:nvSpPr>
      <dsp:spPr>
        <a:xfrm>
          <a:off x="0" y="1939966"/>
          <a:ext cx="4381571" cy="15514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AA69A3-52A9-4913-9198-42FBD6632F9D}">
      <dsp:nvSpPr>
        <dsp:cNvPr id="0" name=""/>
        <dsp:cNvSpPr/>
      </dsp:nvSpPr>
      <dsp:spPr>
        <a:xfrm>
          <a:off x="469311" y="2289041"/>
          <a:ext cx="853293" cy="85329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088390-110A-49C0-B676-1306B9CD10C6}">
      <dsp:nvSpPr>
        <dsp:cNvPr id="0" name=""/>
        <dsp:cNvSpPr/>
      </dsp:nvSpPr>
      <dsp:spPr>
        <a:xfrm>
          <a:off x="1791916" y="1939966"/>
          <a:ext cx="2589654" cy="1551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194" tIns="164194" rIns="164194" bIns="164194" numCol="1" spcCol="1270" anchor="ctr" anchorCtr="0">
          <a:noAutofit/>
        </a:bodyPr>
        <a:lstStyle/>
        <a:p>
          <a:pPr marL="0" lvl="0" indent="0" algn="l" defTabSz="844550">
            <a:lnSpc>
              <a:spcPct val="100000"/>
            </a:lnSpc>
            <a:spcBef>
              <a:spcPct val="0"/>
            </a:spcBef>
            <a:spcAft>
              <a:spcPct val="35000"/>
            </a:spcAft>
            <a:buNone/>
          </a:pPr>
          <a:r>
            <a:rPr lang="en-US" sz="1900" kern="1200"/>
            <a:t>This project builds a playable chess engine from scratch in Python.</a:t>
          </a:r>
        </a:p>
      </dsp:txBody>
      <dsp:txXfrm>
        <a:off x="1791916" y="1939966"/>
        <a:ext cx="2589654" cy="1551442"/>
      </dsp:txXfrm>
    </dsp:sp>
    <dsp:sp modelId="{A1134C17-0D5B-4B5F-BBA1-264223D4B9BF}">
      <dsp:nvSpPr>
        <dsp:cNvPr id="0" name=""/>
        <dsp:cNvSpPr/>
      </dsp:nvSpPr>
      <dsp:spPr>
        <a:xfrm>
          <a:off x="0" y="3879270"/>
          <a:ext cx="4381571" cy="15514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ED6B60-965D-4E0D-8091-9B1057040CE2}">
      <dsp:nvSpPr>
        <dsp:cNvPr id="0" name=""/>
        <dsp:cNvSpPr/>
      </dsp:nvSpPr>
      <dsp:spPr>
        <a:xfrm>
          <a:off x="469311" y="4228344"/>
          <a:ext cx="853293" cy="853293"/>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4D2B1C-46BC-4323-B751-CC20157965ED}">
      <dsp:nvSpPr>
        <dsp:cNvPr id="0" name=""/>
        <dsp:cNvSpPr/>
      </dsp:nvSpPr>
      <dsp:spPr>
        <a:xfrm>
          <a:off x="1791916" y="3879270"/>
          <a:ext cx="2589654" cy="1551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194" tIns="164194" rIns="164194" bIns="164194" numCol="1" spcCol="1270" anchor="ctr" anchorCtr="0">
          <a:noAutofit/>
        </a:bodyPr>
        <a:lstStyle/>
        <a:p>
          <a:pPr marL="0" lvl="0" indent="0" algn="l" defTabSz="844550">
            <a:lnSpc>
              <a:spcPct val="100000"/>
            </a:lnSpc>
            <a:spcBef>
              <a:spcPct val="0"/>
            </a:spcBef>
            <a:spcAft>
              <a:spcPct val="35000"/>
            </a:spcAft>
            <a:buNone/>
          </a:pPr>
          <a:r>
            <a:rPr lang="en-US" sz="1900" kern="1200"/>
            <a:t>Objective: Create an interactive chess engine with AI and full rule support.</a:t>
          </a:r>
        </a:p>
      </dsp:txBody>
      <dsp:txXfrm>
        <a:off x="1791916" y="3879270"/>
        <a:ext cx="2589654" cy="15514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722AFD-03B9-4AD8-8229-21BE8A0C16AD}">
      <dsp:nvSpPr>
        <dsp:cNvPr id="0" name=""/>
        <dsp:cNvSpPr/>
      </dsp:nvSpPr>
      <dsp:spPr>
        <a:xfrm>
          <a:off x="0" y="30"/>
          <a:ext cx="5175384" cy="13127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Legal move generation and validation.</a:t>
          </a:r>
        </a:p>
      </dsp:txBody>
      <dsp:txXfrm>
        <a:off x="64083" y="64113"/>
        <a:ext cx="5047218" cy="1184574"/>
      </dsp:txXfrm>
    </dsp:sp>
    <dsp:sp modelId="{19892014-735B-4902-ABA3-27C6C7E37B86}">
      <dsp:nvSpPr>
        <dsp:cNvPr id="0" name=""/>
        <dsp:cNvSpPr/>
      </dsp:nvSpPr>
      <dsp:spPr>
        <a:xfrm>
          <a:off x="0" y="1407810"/>
          <a:ext cx="5175384" cy="131274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Checkmate, stalemate, draw condition detection.</a:t>
          </a:r>
        </a:p>
      </dsp:txBody>
      <dsp:txXfrm>
        <a:off x="64083" y="1471893"/>
        <a:ext cx="5047218" cy="1184574"/>
      </dsp:txXfrm>
    </dsp:sp>
    <dsp:sp modelId="{7A1969C2-C1E5-4698-A03B-A297D09D7D54}">
      <dsp:nvSpPr>
        <dsp:cNvPr id="0" name=""/>
        <dsp:cNvSpPr/>
      </dsp:nvSpPr>
      <dsp:spPr>
        <a:xfrm>
          <a:off x="0" y="2815590"/>
          <a:ext cx="5175384" cy="131274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Undo, resign, and captured pieces tracking.</a:t>
          </a:r>
        </a:p>
      </dsp:txBody>
      <dsp:txXfrm>
        <a:off x="64083" y="2879673"/>
        <a:ext cx="5047218" cy="1184574"/>
      </dsp:txXfrm>
    </dsp:sp>
    <dsp:sp modelId="{502826A4-EF3E-4C62-A29F-318398E843B1}">
      <dsp:nvSpPr>
        <dsp:cNvPr id="0" name=""/>
        <dsp:cNvSpPr/>
      </dsp:nvSpPr>
      <dsp:spPr>
        <a:xfrm>
          <a:off x="0" y="4223370"/>
          <a:ext cx="5175384" cy="13127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Evaluation bar and status display.</a:t>
          </a:r>
        </a:p>
      </dsp:txBody>
      <dsp:txXfrm>
        <a:off x="64083" y="4287453"/>
        <a:ext cx="5047218" cy="11845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C7A8FF-D74D-4F25-AC6A-2DCBCC36DE4F}">
      <dsp:nvSpPr>
        <dsp:cNvPr id="0" name=""/>
        <dsp:cNvSpPr/>
      </dsp:nvSpPr>
      <dsp:spPr>
        <a:xfrm>
          <a:off x="0" y="0"/>
          <a:ext cx="51753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D317DB-F10A-4848-9C65-C8EB60DE3920}">
      <dsp:nvSpPr>
        <dsp:cNvPr id="0" name=""/>
        <dsp:cNvSpPr/>
      </dsp:nvSpPr>
      <dsp:spPr>
        <a:xfrm>
          <a:off x="0" y="0"/>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Language: Python</a:t>
          </a:r>
        </a:p>
      </dsp:txBody>
      <dsp:txXfrm>
        <a:off x="0" y="0"/>
        <a:ext cx="5175384" cy="1384035"/>
      </dsp:txXfrm>
    </dsp:sp>
    <dsp:sp modelId="{5D968FBA-98DB-4D5F-BC76-DD7C6B443F62}">
      <dsp:nvSpPr>
        <dsp:cNvPr id="0" name=""/>
        <dsp:cNvSpPr/>
      </dsp:nvSpPr>
      <dsp:spPr>
        <a:xfrm>
          <a:off x="0" y="1384035"/>
          <a:ext cx="5175384"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AA43F9-3FD6-4587-9D37-D470C9E96312}">
      <dsp:nvSpPr>
        <dsp:cNvPr id="0" name=""/>
        <dsp:cNvSpPr/>
      </dsp:nvSpPr>
      <dsp:spPr>
        <a:xfrm>
          <a:off x="0" y="1384035"/>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Libraries: Pygame for GUI.</a:t>
          </a:r>
        </a:p>
      </dsp:txBody>
      <dsp:txXfrm>
        <a:off x="0" y="1384035"/>
        <a:ext cx="5175384" cy="1384035"/>
      </dsp:txXfrm>
    </dsp:sp>
    <dsp:sp modelId="{B42FF773-8BB6-4108-B5CC-C7B6D290532B}">
      <dsp:nvSpPr>
        <dsp:cNvPr id="0" name=""/>
        <dsp:cNvSpPr/>
      </dsp:nvSpPr>
      <dsp:spPr>
        <a:xfrm>
          <a:off x="0" y="2768070"/>
          <a:ext cx="5175384"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5AA9BD-636B-4DC2-9FEF-80580920113B}">
      <dsp:nvSpPr>
        <dsp:cNvPr id="0" name=""/>
        <dsp:cNvSpPr/>
      </dsp:nvSpPr>
      <dsp:spPr>
        <a:xfrm>
          <a:off x="0" y="2768070"/>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Algorithms: Minimax with Alpha-Beta Pruning.</a:t>
          </a:r>
        </a:p>
      </dsp:txBody>
      <dsp:txXfrm>
        <a:off x="0" y="2768070"/>
        <a:ext cx="5175384" cy="1384035"/>
      </dsp:txXfrm>
    </dsp:sp>
    <dsp:sp modelId="{9801528C-AA35-4D66-8A4D-D6F3C1DCCADA}">
      <dsp:nvSpPr>
        <dsp:cNvPr id="0" name=""/>
        <dsp:cNvSpPr/>
      </dsp:nvSpPr>
      <dsp:spPr>
        <a:xfrm>
          <a:off x="0" y="4152105"/>
          <a:ext cx="517538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60F223-7623-4B3C-BD56-0C8CA0CADD95}">
      <dsp:nvSpPr>
        <dsp:cNvPr id="0" name=""/>
        <dsp:cNvSpPr/>
      </dsp:nvSpPr>
      <dsp:spPr>
        <a:xfrm>
          <a:off x="0" y="4152105"/>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Structure: Modular, object-oriented design.</a:t>
          </a:r>
        </a:p>
      </dsp:txBody>
      <dsp:txXfrm>
        <a:off x="0" y="4152105"/>
        <a:ext cx="5175384" cy="13840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6687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5588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7431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8017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343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3096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6540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8142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9577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4670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4397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086058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4" name="Rectangle 113">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80060" y="4777739"/>
            <a:ext cx="2564242" cy="1412119"/>
          </a:xfrm>
        </p:spPr>
        <p:txBody>
          <a:bodyPr vert="horz" lIns="91440" tIns="45720" rIns="91440" bIns="45720" rtlCol="0" anchor="ctr">
            <a:normAutofit/>
          </a:bodyPr>
          <a:lstStyle/>
          <a:p>
            <a:pPr algn="l"/>
            <a:r>
              <a:rPr lang="en-US" sz="3600" b="1"/>
              <a:t>Caïssa –Chess Engine</a:t>
            </a:r>
          </a:p>
        </p:txBody>
      </p:sp>
      <p:pic>
        <p:nvPicPr>
          <p:cNvPr id="80" name="Picture 79">
            <a:extLst>
              <a:ext uri="{FF2B5EF4-FFF2-40B4-BE49-F238E27FC236}">
                <a16:creationId xmlns:a16="http://schemas.microsoft.com/office/drawing/2014/main" id="{54751394-0AB6-AAEE-E9CD-9762136CE57D}"/>
              </a:ext>
            </a:extLst>
          </p:cNvPr>
          <p:cNvPicPr>
            <a:picLocks noChangeAspect="1"/>
          </p:cNvPicPr>
          <p:nvPr/>
        </p:nvPicPr>
        <p:blipFill>
          <a:blip r:embed="rId2"/>
          <a:srcRect t="2219" b="2219"/>
          <a:stretch/>
        </p:blipFill>
        <p:spPr>
          <a:xfrm>
            <a:off x="20" y="10"/>
            <a:ext cx="9143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15"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74529" y="5470492"/>
            <a:ext cx="1371600" cy="13716"/>
          </a:xfrm>
          <a:custGeom>
            <a:avLst/>
            <a:gdLst>
              <a:gd name="connsiteX0" fmla="*/ 0 w 1371600"/>
              <a:gd name="connsiteY0" fmla="*/ 0 h 13716"/>
              <a:gd name="connsiteX1" fmla="*/ 685800 w 1371600"/>
              <a:gd name="connsiteY1" fmla="*/ 0 h 13716"/>
              <a:gd name="connsiteX2" fmla="*/ 1371600 w 1371600"/>
              <a:gd name="connsiteY2" fmla="*/ 0 h 13716"/>
              <a:gd name="connsiteX3" fmla="*/ 1371600 w 1371600"/>
              <a:gd name="connsiteY3" fmla="*/ 13716 h 13716"/>
              <a:gd name="connsiteX4" fmla="*/ 713232 w 1371600"/>
              <a:gd name="connsiteY4" fmla="*/ 13716 h 13716"/>
              <a:gd name="connsiteX5" fmla="*/ 0 w 1371600"/>
              <a:gd name="connsiteY5" fmla="*/ 13716 h 13716"/>
              <a:gd name="connsiteX6" fmla="*/ 0 w 137160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13716" fill="none" extrusionOk="0">
                <a:moveTo>
                  <a:pt x="0" y="0"/>
                </a:moveTo>
                <a:cubicBezTo>
                  <a:pt x="247303" y="31625"/>
                  <a:pt x="422310" y="-25629"/>
                  <a:pt x="685800" y="0"/>
                </a:cubicBezTo>
                <a:cubicBezTo>
                  <a:pt x="949290" y="25629"/>
                  <a:pt x="1192357" y="6696"/>
                  <a:pt x="1371600" y="0"/>
                </a:cubicBezTo>
                <a:cubicBezTo>
                  <a:pt x="1371127" y="2892"/>
                  <a:pt x="1371229" y="8681"/>
                  <a:pt x="1371600" y="13716"/>
                </a:cubicBezTo>
                <a:cubicBezTo>
                  <a:pt x="1107995" y="21892"/>
                  <a:pt x="1033361" y="28370"/>
                  <a:pt x="713232" y="13716"/>
                </a:cubicBezTo>
                <a:cubicBezTo>
                  <a:pt x="393103" y="-938"/>
                  <a:pt x="289343" y="38649"/>
                  <a:pt x="0" y="13716"/>
                </a:cubicBezTo>
                <a:cubicBezTo>
                  <a:pt x="227" y="7219"/>
                  <a:pt x="197" y="5990"/>
                  <a:pt x="0" y="0"/>
                </a:cubicBezTo>
                <a:close/>
              </a:path>
              <a:path w="1371600" h="13716" stroke="0" extrusionOk="0">
                <a:moveTo>
                  <a:pt x="0" y="0"/>
                </a:moveTo>
                <a:cubicBezTo>
                  <a:pt x="170249" y="-24099"/>
                  <a:pt x="504634" y="14338"/>
                  <a:pt x="644652" y="0"/>
                </a:cubicBezTo>
                <a:cubicBezTo>
                  <a:pt x="784670" y="-14338"/>
                  <a:pt x="1087773" y="8679"/>
                  <a:pt x="1371600" y="0"/>
                </a:cubicBezTo>
                <a:cubicBezTo>
                  <a:pt x="1372228" y="6235"/>
                  <a:pt x="1371259" y="10206"/>
                  <a:pt x="1371600" y="13716"/>
                </a:cubicBezTo>
                <a:cubicBezTo>
                  <a:pt x="1176823" y="-5981"/>
                  <a:pt x="900830" y="5417"/>
                  <a:pt x="713232" y="13716"/>
                </a:cubicBezTo>
                <a:cubicBezTo>
                  <a:pt x="525634" y="22015"/>
                  <a:pt x="282837" y="1152"/>
                  <a:pt x="0" y="13716"/>
                </a:cubicBezTo>
                <a:cubicBezTo>
                  <a:pt x="596" y="8712"/>
                  <a:pt x="320" y="3422"/>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490720" y="4777739"/>
            <a:ext cx="5173220" cy="1399223"/>
          </a:xfrm>
        </p:spPr>
        <p:txBody>
          <a:bodyPr vert="horz" lIns="91440" tIns="45720" rIns="91440" bIns="45720" rtlCol="0" anchor="ctr">
            <a:normAutofit/>
          </a:bodyPr>
          <a:lstStyle/>
          <a:p>
            <a:pPr indent="-228600" algn="l">
              <a:buFont typeface="Arial" panose="020B0604020202020204" pitchFamily="34" charset="0"/>
              <a:buChar char="•"/>
            </a:pPr>
            <a:r>
              <a:rPr lang="en-US" sz="1600"/>
              <a:t>Presented By-</a:t>
            </a:r>
          </a:p>
          <a:p>
            <a:pPr indent="-228600" algn="l">
              <a:buFont typeface="Arial" panose="020B0604020202020204" pitchFamily="34" charset="0"/>
              <a:buChar char="•"/>
            </a:pPr>
            <a:r>
              <a:rPr lang="en-US" sz="1600"/>
              <a:t>Utkarsh Raj [2211072]</a:t>
            </a:r>
          </a:p>
          <a:p>
            <a:pPr indent="-228600" algn="l">
              <a:buFont typeface="Arial" panose="020B0604020202020204" pitchFamily="34" charset="0"/>
              <a:buChar char="•"/>
            </a:pPr>
            <a:r>
              <a:rPr lang="en-US" sz="1600"/>
              <a:t>Sharad Kumar [2211065]</a:t>
            </a:r>
          </a:p>
          <a:p>
            <a:pPr indent="-228600" algn="l">
              <a:buFont typeface="Arial" panose="020B0604020202020204" pitchFamily="34" charset="0"/>
              <a:buChar char="•"/>
            </a:pPr>
            <a:r>
              <a:rPr lang="en-US" sz="1600"/>
              <a:t>Sargam Vishwakarma [2211064]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A7E003E-EE76-4207-A774-A645C37F1D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2" name="Title 1"/>
          <p:cNvSpPr>
            <a:spLocks noGrp="1"/>
          </p:cNvSpPr>
          <p:nvPr>
            <p:ph type="title"/>
          </p:nvPr>
        </p:nvSpPr>
        <p:spPr>
          <a:xfrm>
            <a:off x="628650" y="713312"/>
            <a:ext cx="2971800" cy="5431376"/>
          </a:xfrm>
        </p:spPr>
        <p:txBody>
          <a:bodyPr>
            <a:normAutofit/>
          </a:bodyPr>
          <a:lstStyle/>
          <a:p>
            <a:r>
              <a:rPr lang="en-IN" sz="4100"/>
              <a:t>Introduction</a:t>
            </a:r>
          </a:p>
        </p:txBody>
      </p:sp>
      <p:graphicFrame>
        <p:nvGraphicFramePr>
          <p:cNvPr id="5" name="Content Placeholder 2">
            <a:extLst>
              <a:ext uri="{FF2B5EF4-FFF2-40B4-BE49-F238E27FC236}">
                <a16:creationId xmlns:a16="http://schemas.microsoft.com/office/drawing/2014/main" id="{262EE59B-98BE-BEE7-6547-A5F7CD070CF2}"/>
              </a:ext>
            </a:extLst>
          </p:cNvPr>
          <p:cNvGraphicFramePr>
            <a:graphicFrameLocks noGrp="1"/>
          </p:cNvGraphicFramePr>
          <p:nvPr>
            <p:ph idx="1"/>
            <p:extLst>
              <p:ext uri="{D42A27DB-BD31-4B8C-83A1-F6EECF244321}">
                <p14:modId xmlns:p14="http://schemas.microsoft.com/office/powerpoint/2010/main" val="2899035661"/>
              </p:ext>
            </p:extLst>
          </p:nvPr>
        </p:nvGraphicFramePr>
        <p:xfrm>
          <a:off x="4133778" y="713313"/>
          <a:ext cx="4381571" cy="5431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r>
              <a:rPr lang="en-IN" sz="4700"/>
              <a:t>Problem Statement</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3320668"/>
          </a:xfrm>
        </p:spPr>
        <p:txBody>
          <a:bodyPr>
            <a:normAutofit/>
          </a:bodyPr>
          <a:lstStyle/>
          <a:p>
            <a:r>
              <a:rPr lang="en-US" sz="1900"/>
              <a:t>Most chess engines are complex and not beginner-friendly.</a:t>
            </a:r>
          </a:p>
          <a:p>
            <a:r>
              <a:rPr lang="en-US" sz="1900"/>
              <a:t>Lack of educational tools to learn chess logic and AI together.</a:t>
            </a:r>
          </a:p>
          <a:p>
            <a:r>
              <a:rPr lang="en-US" sz="1900"/>
              <a:t>Goal: Build a modular, understandable engine for learning and experimentation.</a:t>
            </a:r>
          </a:p>
        </p:txBody>
      </p:sp>
      <p:pic>
        <p:nvPicPr>
          <p:cNvPr id="5" name="Picture 4" descr="Chess pieces laid on a wood surface">
            <a:extLst>
              <a:ext uri="{FF2B5EF4-FFF2-40B4-BE49-F238E27FC236}">
                <a16:creationId xmlns:a16="http://schemas.microsoft.com/office/drawing/2014/main" id="{6209938F-7130-4AA0-9807-8990A62E81EC}"/>
              </a:ext>
            </a:extLst>
          </p:cNvPr>
          <p:cNvPicPr>
            <a:picLocks noChangeAspect="1"/>
          </p:cNvPicPr>
          <p:nvPr/>
        </p:nvPicPr>
        <p:blipFill>
          <a:blip r:embed="rId2"/>
          <a:srcRect l="49786" r="-1"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1417" y="1138036"/>
            <a:ext cx="4083287" cy="1402470"/>
          </a:xfrm>
        </p:spPr>
        <p:txBody>
          <a:bodyPr anchor="t">
            <a:normAutofit/>
          </a:bodyPr>
          <a:lstStyle/>
          <a:p>
            <a:r>
              <a:rPr lang="en-IN" sz="2800"/>
              <a:t>Goals &amp; Objectives</a:t>
            </a:r>
          </a:p>
        </p:txBody>
      </p:sp>
      <p:pic>
        <p:nvPicPr>
          <p:cNvPr id="5" name="Picture 4" descr="Chess checkmate">
            <a:extLst>
              <a:ext uri="{FF2B5EF4-FFF2-40B4-BE49-F238E27FC236}">
                <a16:creationId xmlns:a16="http://schemas.microsoft.com/office/drawing/2014/main" id="{48E8272D-9251-4902-BB3E-648D539F524C}"/>
              </a:ext>
            </a:extLst>
          </p:cNvPr>
          <p:cNvPicPr>
            <a:picLocks noChangeAspect="1"/>
          </p:cNvPicPr>
          <p:nvPr/>
        </p:nvPicPr>
        <p:blipFill>
          <a:blip r:embed="rId2"/>
          <a:srcRect l="47986" r="14411" b="-1"/>
          <a:stretch/>
        </p:blipFill>
        <p:spPr>
          <a:xfrm>
            <a:off x="20" y="10"/>
            <a:ext cx="3863363"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78772" y="871146"/>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401417" y="2551176"/>
            <a:ext cx="4083287" cy="3591207"/>
          </a:xfrm>
        </p:spPr>
        <p:txBody>
          <a:bodyPr>
            <a:normAutofit/>
          </a:bodyPr>
          <a:lstStyle/>
          <a:p>
            <a:r>
              <a:rPr lang="en-IN" sz="1700" dirty="0"/>
              <a:t>Support complete chess rules including </a:t>
            </a:r>
            <a:r>
              <a:rPr lang="en-IN" sz="1700" dirty="0" err="1"/>
              <a:t>en</a:t>
            </a:r>
            <a:r>
              <a:rPr lang="en-IN" sz="1700" dirty="0"/>
              <a:t> passant, castling, etc.</a:t>
            </a:r>
          </a:p>
          <a:p>
            <a:r>
              <a:rPr lang="en-IN" sz="1700" dirty="0"/>
              <a:t>Enable PvP, </a:t>
            </a:r>
            <a:r>
              <a:rPr lang="en-IN" sz="1700" dirty="0" err="1"/>
              <a:t>PvAI</a:t>
            </a:r>
            <a:r>
              <a:rPr lang="en-IN" sz="1700" dirty="0"/>
              <a:t>, and </a:t>
            </a:r>
            <a:r>
              <a:rPr lang="en-IN" sz="1700" dirty="0" err="1"/>
              <a:t>AivAi</a:t>
            </a:r>
            <a:r>
              <a:rPr lang="en-IN" sz="1700" dirty="0"/>
              <a:t> gameplay modes.</a:t>
            </a:r>
          </a:p>
          <a:p>
            <a:r>
              <a:rPr lang="en-IN" sz="1700" dirty="0"/>
              <a:t>Use Minimax with Alpha-Beta pruning for AI decisions.</a:t>
            </a:r>
          </a:p>
          <a:p>
            <a:r>
              <a:rPr lang="en-IN" sz="1700" dirty="0"/>
              <a:t>Design an intuitive </a:t>
            </a:r>
            <a:r>
              <a:rPr lang="en-IN" sz="1700" dirty="0" err="1"/>
              <a:t>Pygame</a:t>
            </a:r>
            <a:r>
              <a:rPr lang="en-IN" sz="1700" dirty="0"/>
              <a:t>-based GUI.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5050" y="1128094"/>
            <a:ext cx="2575635" cy="1415270"/>
          </a:xfrm>
        </p:spPr>
        <p:txBody>
          <a:bodyPr anchor="t">
            <a:normAutofit/>
          </a:bodyPr>
          <a:lstStyle/>
          <a:p>
            <a:r>
              <a:rPr lang="en-IN" sz="2800"/>
              <a:t>System Architecture</a:t>
            </a:r>
          </a:p>
        </p:txBody>
      </p:sp>
      <p:pic>
        <p:nvPicPr>
          <p:cNvPr id="19" name="Picture 18">
            <a:extLst>
              <a:ext uri="{FF2B5EF4-FFF2-40B4-BE49-F238E27FC236}">
                <a16:creationId xmlns:a16="http://schemas.microsoft.com/office/drawing/2014/main" id="{6F10D166-79DA-1DF6-E318-B947C13E2B27}"/>
              </a:ext>
            </a:extLst>
          </p:cNvPr>
          <p:cNvPicPr>
            <a:picLocks noChangeAspect="1"/>
          </p:cNvPicPr>
          <p:nvPr/>
        </p:nvPicPr>
        <p:blipFill>
          <a:blip r:embed="rId2"/>
          <a:srcRect l="9527" r="43890"/>
          <a:stretch/>
        </p:blipFill>
        <p:spPr>
          <a:xfrm>
            <a:off x="-7414" y="10"/>
            <a:ext cx="5679453" cy="6857990"/>
          </a:xfrm>
          <a:prstGeom prst="rect">
            <a:avLst/>
          </a:prstGeom>
        </p:spPr>
      </p:pic>
      <p:cxnSp>
        <p:nvCxnSpPr>
          <p:cNvPr id="20" name="Straight Connector 19">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49542"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Content Placeholder 2"/>
          <p:cNvSpPr>
            <a:spLocks noGrp="1"/>
          </p:cNvSpPr>
          <p:nvPr>
            <p:ph idx="1"/>
          </p:nvPr>
        </p:nvSpPr>
        <p:spPr>
          <a:xfrm>
            <a:off x="6115050" y="2543364"/>
            <a:ext cx="2575635" cy="3599019"/>
          </a:xfrm>
        </p:spPr>
        <p:txBody>
          <a:bodyPr>
            <a:normAutofit/>
          </a:bodyPr>
          <a:lstStyle/>
          <a:p>
            <a:r>
              <a:rPr sz="1700"/>
              <a:t>UI Layer: Handles display and user interaction (Pygame).</a:t>
            </a:r>
          </a:p>
          <a:p>
            <a:r>
              <a:rPr sz="1700"/>
              <a:t>Game Logic Layer: Validates and executes moves (`chessEngine.py`).</a:t>
            </a:r>
          </a:p>
          <a:p>
            <a:r>
              <a:rPr sz="1700"/>
              <a:t>AI Layer: Evaluates best moves using Minimax</a:t>
            </a:r>
            <a:r>
              <a:rPr lang="en-US" sz="1700"/>
              <a:t> and Alpha-Beta Pruning</a:t>
            </a:r>
            <a:r>
              <a:rPr sz="1700"/>
              <a:t> (`SmartMoveFinder.py`).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IN" sz="4700"/>
              <a:t>Core Features</a:t>
            </a:r>
          </a:p>
        </p:txBody>
      </p:sp>
      <p:sp>
        <p:nvSpPr>
          <p:cNvPr id="7"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2">
            <a:extLst>
              <a:ext uri="{FF2B5EF4-FFF2-40B4-BE49-F238E27FC236}">
                <a16:creationId xmlns:a16="http://schemas.microsoft.com/office/drawing/2014/main" id="{63FB573B-0A0E-A7CE-7360-BB266B84F5C2}"/>
              </a:ext>
            </a:extLst>
          </p:cNvPr>
          <p:cNvGraphicFramePr>
            <a:graphicFrameLocks noGrp="1"/>
          </p:cNvGraphicFramePr>
          <p:nvPr>
            <p:ph idx="1"/>
            <p:extLst>
              <p:ext uri="{D42A27DB-BD31-4B8C-83A1-F6EECF244321}">
                <p14:modId xmlns:p14="http://schemas.microsoft.com/office/powerpoint/2010/main" val="223817036"/>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C186E6-A7CB-4A19-615B-F69D953197BE}"/>
              </a:ext>
            </a:extLst>
          </p:cNvPr>
          <p:cNvSpPr>
            <a:spLocks noGrp="1"/>
          </p:cNvSpPr>
          <p:nvPr>
            <p:ph type="title"/>
          </p:nvPr>
        </p:nvSpPr>
        <p:spPr>
          <a:xfrm>
            <a:off x="480060" y="325369"/>
            <a:ext cx="3276451" cy="1956841"/>
          </a:xfrm>
        </p:spPr>
        <p:txBody>
          <a:bodyPr anchor="b">
            <a:normAutofit/>
          </a:bodyPr>
          <a:lstStyle/>
          <a:p>
            <a:r>
              <a:rPr lang="en-US" sz="4700" b="1" dirty="0" err="1"/>
              <a:t>CheckMate</a:t>
            </a:r>
            <a:endParaRPr lang="en-IN" sz="4700" b="1" dirty="0"/>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58304640-C0A9-76AE-355A-312AFDAF2601}"/>
              </a:ext>
            </a:extLst>
          </p:cNvPr>
          <p:cNvSpPr>
            <a:spLocks noGrp="1"/>
          </p:cNvSpPr>
          <p:nvPr>
            <p:ph idx="1"/>
          </p:nvPr>
        </p:nvSpPr>
        <p:spPr>
          <a:xfrm>
            <a:off x="480060" y="2872899"/>
            <a:ext cx="3182691" cy="3320668"/>
          </a:xfrm>
        </p:spPr>
        <p:txBody>
          <a:bodyPr>
            <a:normAutofit fontScale="25000" lnSpcReduction="20000"/>
          </a:bodyPr>
          <a:lstStyle/>
          <a:p>
            <a:pPr marL="0" indent="0" algn="ctr">
              <a:buNone/>
            </a:pPr>
            <a:endParaRPr lang="en-US" sz="1900" dirty="0"/>
          </a:p>
          <a:p>
            <a:pPr marL="0" indent="0" algn="ctr">
              <a:buNone/>
            </a:pPr>
            <a:r>
              <a:rPr lang="en-US" sz="9600" dirty="0"/>
              <a:t>Checkmate in chess occurs when player’s king is in a position to be captured (in check) and no legal move can prevent the capture. It signifies the end of the game, declaring victory for the attacking player</a:t>
            </a:r>
            <a:r>
              <a:rPr lang="en-US" sz="1900" dirty="0"/>
              <a:t>.</a:t>
            </a:r>
          </a:p>
          <a:p>
            <a:pPr marL="0" indent="0" algn="ctr">
              <a:buNone/>
            </a:pPr>
            <a:endParaRPr lang="en-US" sz="1900" dirty="0"/>
          </a:p>
          <a:p>
            <a:pPr marL="0" indent="0">
              <a:buNone/>
            </a:pPr>
            <a:endParaRPr lang="en-US" sz="1300" dirty="0"/>
          </a:p>
          <a:p>
            <a:pPr marL="0" indent="0">
              <a:buNone/>
            </a:pPr>
            <a:endParaRPr lang="en-US" sz="1300" dirty="0"/>
          </a:p>
          <a:p>
            <a:pPr marL="0" indent="0">
              <a:buNone/>
            </a:pPr>
            <a:r>
              <a:rPr lang="en-US" sz="1300" dirty="0"/>
              <a:t>							                                     </a:t>
            </a:r>
          </a:p>
          <a:p>
            <a:pPr marL="0" indent="0">
              <a:buNone/>
            </a:pPr>
            <a:endParaRPr lang="en-IN" sz="1300" dirty="0"/>
          </a:p>
        </p:txBody>
      </p:sp>
      <p:pic>
        <p:nvPicPr>
          <p:cNvPr id="8" name="Content Placeholder 4">
            <a:extLst>
              <a:ext uri="{FF2B5EF4-FFF2-40B4-BE49-F238E27FC236}">
                <a16:creationId xmlns:a16="http://schemas.microsoft.com/office/drawing/2014/main" id="{AC553D17-33B0-D825-CC89-28D8A3350FAB}"/>
              </a:ext>
            </a:extLst>
          </p:cNvPr>
          <p:cNvPicPr>
            <a:picLocks noChangeAspect="1"/>
          </p:cNvPicPr>
          <p:nvPr/>
        </p:nvPicPr>
        <p:blipFill>
          <a:blip r:embed="rId2"/>
          <a:srcRect l="12251" r="11182"/>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432262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2EC684-CB92-2DCB-A32C-C256640D933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84A8C0-EF06-56EF-F322-8C3DF6233D90}"/>
              </a:ext>
            </a:extLst>
          </p:cNvPr>
          <p:cNvSpPr>
            <a:spLocks noGrp="1"/>
          </p:cNvSpPr>
          <p:nvPr>
            <p:ph type="title"/>
          </p:nvPr>
        </p:nvSpPr>
        <p:spPr>
          <a:xfrm>
            <a:off x="480060" y="325369"/>
            <a:ext cx="3276451" cy="1956841"/>
          </a:xfrm>
        </p:spPr>
        <p:txBody>
          <a:bodyPr anchor="b">
            <a:normAutofit/>
          </a:bodyPr>
          <a:lstStyle/>
          <a:p>
            <a:r>
              <a:rPr lang="en-US" sz="4700" dirty="0"/>
              <a:t>Draw Condition</a:t>
            </a:r>
            <a:endParaRPr lang="en-IN" sz="4700" dirty="0"/>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77FF46AB-7785-9043-4811-385D0D777439}"/>
              </a:ext>
            </a:extLst>
          </p:cNvPr>
          <p:cNvSpPr>
            <a:spLocks noGrp="1"/>
          </p:cNvSpPr>
          <p:nvPr>
            <p:ph idx="1"/>
          </p:nvPr>
        </p:nvSpPr>
        <p:spPr>
          <a:xfrm>
            <a:off x="480060" y="2872899"/>
            <a:ext cx="3182691" cy="3320668"/>
          </a:xfrm>
        </p:spPr>
        <p:txBody>
          <a:bodyPr>
            <a:normAutofit fontScale="92500" lnSpcReduction="20000"/>
          </a:bodyPr>
          <a:lstStyle/>
          <a:p>
            <a:pPr marL="0" indent="0" algn="ctr">
              <a:buNone/>
            </a:pPr>
            <a:r>
              <a:rPr lang="en-US" sz="2600" b="1" dirty="0"/>
              <a:t>STALEMATE</a:t>
            </a:r>
          </a:p>
          <a:p>
            <a:pPr marL="0" indent="0" algn="ctr">
              <a:buNone/>
            </a:pPr>
            <a:r>
              <a:rPr lang="en-US" sz="2100" dirty="0"/>
              <a:t>Stalemate in chess happens when a player has no legal moves and their king is not in check. It results in draw. Though not a win, it can be used strategically to avoid losing a game in difficult positions</a:t>
            </a:r>
            <a:r>
              <a:rPr lang="en-US" sz="1300" dirty="0"/>
              <a:t>.</a:t>
            </a:r>
          </a:p>
          <a:p>
            <a:pPr marL="0" indent="0" algn="ctr">
              <a:buNone/>
            </a:pPr>
            <a:endParaRPr lang="en-US" sz="1300" dirty="0"/>
          </a:p>
          <a:p>
            <a:pPr marL="0" indent="0">
              <a:buNone/>
            </a:pPr>
            <a:endParaRPr lang="en-US" sz="1300" dirty="0"/>
          </a:p>
          <a:p>
            <a:pPr marL="0" indent="0">
              <a:buNone/>
            </a:pPr>
            <a:endParaRPr lang="en-US" sz="1300" dirty="0"/>
          </a:p>
          <a:p>
            <a:pPr marL="0" indent="0">
              <a:buNone/>
            </a:pPr>
            <a:r>
              <a:rPr lang="en-US" sz="1300" dirty="0"/>
              <a:t>						                                     </a:t>
            </a:r>
          </a:p>
          <a:p>
            <a:pPr marL="0" indent="0">
              <a:buNone/>
            </a:pPr>
            <a:endParaRPr lang="en-IN" sz="1300" dirty="0"/>
          </a:p>
        </p:txBody>
      </p:sp>
      <p:pic>
        <p:nvPicPr>
          <p:cNvPr id="4" name="Picture 3">
            <a:extLst>
              <a:ext uri="{FF2B5EF4-FFF2-40B4-BE49-F238E27FC236}">
                <a16:creationId xmlns:a16="http://schemas.microsoft.com/office/drawing/2014/main" id="{164B3113-9512-58DF-232A-E25FFDD6F33A}"/>
              </a:ext>
            </a:extLst>
          </p:cNvPr>
          <p:cNvPicPr>
            <a:picLocks noChangeAspect="1"/>
          </p:cNvPicPr>
          <p:nvPr/>
        </p:nvPicPr>
        <p:blipFill>
          <a:blip r:embed="rId2"/>
          <a:srcRect l="16365" r="9536"/>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42358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1D658-6DE6-4EAE-7EFD-5319EFDAC7DA}"/>
              </a:ext>
            </a:extLst>
          </p:cNvPr>
          <p:cNvSpPr>
            <a:spLocks noGrp="1"/>
          </p:cNvSpPr>
          <p:nvPr>
            <p:ph type="title"/>
          </p:nvPr>
        </p:nvSpPr>
        <p:spPr>
          <a:xfrm>
            <a:off x="480060" y="325369"/>
            <a:ext cx="3276451" cy="1956841"/>
          </a:xfrm>
        </p:spPr>
        <p:txBody>
          <a:bodyPr anchor="b">
            <a:normAutofit/>
          </a:bodyPr>
          <a:lstStyle/>
          <a:p>
            <a:r>
              <a:rPr lang="en-US" sz="4700" b="1" dirty="0"/>
              <a:t>Draw Condition</a:t>
            </a:r>
            <a:endParaRPr lang="en-IN" sz="4700" b="1" dirty="0"/>
          </a:p>
        </p:txBody>
      </p:sp>
      <p:sp>
        <p:nvSpPr>
          <p:cNvPr id="1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BD3E7B2E-D8A2-BDA9-5597-D17F5F09B1E4}"/>
              </a:ext>
            </a:extLst>
          </p:cNvPr>
          <p:cNvSpPr>
            <a:spLocks noGrp="1"/>
          </p:cNvSpPr>
          <p:nvPr>
            <p:ph idx="1"/>
          </p:nvPr>
        </p:nvSpPr>
        <p:spPr>
          <a:xfrm>
            <a:off x="480060" y="2872899"/>
            <a:ext cx="3182691" cy="3320668"/>
          </a:xfrm>
        </p:spPr>
        <p:txBody>
          <a:bodyPr>
            <a:normAutofit/>
          </a:bodyPr>
          <a:lstStyle/>
          <a:p>
            <a:pPr marL="0" indent="0" algn="ctr">
              <a:buNone/>
            </a:pPr>
            <a:r>
              <a:rPr lang="en-US" sz="1900" b="1" dirty="0"/>
              <a:t>Insufficient Material </a:t>
            </a:r>
          </a:p>
          <a:p>
            <a:pPr marL="0" indent="0" algn="ctr">
              <a:buNone/>
            </a:pPr>
            <a:r>
              <a:rPr lang="en-IN" sz="1900" dirty="0"/>
              <a:t>Draw by insufficient material occurs when neither player has enough pieces to checkmate the opponent. Common examples includes King versus King, or King and Bishop versus King. In such cases, the game ends in a draw automatically, regardless the position</a:t>
            </a:r>
          </a:p>
        </p:txBody>
      </p:sp>
      <p:pic>
        <p:nvPicPr>
          <p:cNvPr id="9" name="Picture 8" descr="A screenshot of a game&#10;&#10;AI-generated content may be incorrect.">
            <a:extLst>
              <a:ext uri="{FF2B5EF4-FFF2-40B4-BE49-F238E27FC236}">
                <a16:creationId xmlns:a16="http://schemas.microsoft.com/office/drawing/2014/main" id="{A4E8D032-84CA-3CB4-313A-5CFDC62C5E9C}"/>
              </a:ext>
            </a:extLst>
          </p:cNvPr>
          <p:cNvPicPr>
            <a:picLocks noChangeAspect="1"/>
          </p:cNvPicPr>
          <p:nvPr/>
        </p:nvPicPr>
        <p:blipFill>
          <a:blip r:embed="rId2"/>
          <a:srcRect l="11053" r="14472"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716606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FC194-B50A-454B-CAD5-CED05165BAEE}"/>
              </a:ext>
            </a:extLst>
          </p:cNvPr>
          <p:cNvSpPr>
            <a:spLocks noGrp="1"/>
          </p:cNvSpPr>
          <p:nvPr>
            <p:ph type="title"/>
          </p:nvPr>
        </p:nvSpPr>
        <p:spPr>
          <a:xfrm>
            <a:off x="480060" y="325369"/>
            <a:ext cx="3276451" cy="1956841"/>
          </a:xfrm>
        </p:spPr>
        <p:txBody>
          <a:bodyPr anchor="b">
            <a:normAutofit/>
          </a:bodyPr>
          <a:lstStyle/>
          <a:p>
            <a:r>
              <a:rPr lang="en-US" sz="4700" b="1" dirty="0"/>
              <a:t>Draw Condition</a:t>
            </a:r>
            <a:endParaRPr lang="en-IN" sz="4700" b="1" dirty="0"/>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0F29A5-F1DB-9C4B-8DEB-6E5E4606843D}"/>
              </a:ext>
            </a:extLst>
          </p:cNvPr>
          <p:cNvSpPr>
            <a:spLocks noGrp="1"/>
          </p:cNvSpPr>
          <p:nvPr>
            <p:ph idx="1"/>
          </p:nvPr>
        </p:nvSpPr>
        <p:spPr>
          <a:xfrm>
            <a:off x="480060" y="2872899"/>
            <a:ext cx="3182691" cy="3320668"/>
          </a:xfrm>
        </p:spPr>
        <p:txBody>
          <a:bodyPr>
            <a:normAutofit/>
          </a:bodyPr>
          <a:lstStyle/>
          <a:p>
            <a:pPr marL="0" indent="0" algn="ctr">
              <a:buNone/>
            </a:pPr>
            <a:r>
              <a:rPr lang="en-US" sz="1900" b="1" dirty="0"/>
              <a:t>Threefold Repetition</a:t>
            </a:r>
          </a:p>
          <a:p>
            <a:pPr marL="0" indent="0" algn="ctr">
              <a:buNone/>
            </a:pPr>
            <a:r>
              <a:rPr lang="en-IN" sz="1900" dirty="0"/>
              <a:t>Draw by threefold repetition occurs when the same position occurs three times with the same player to move and all possible moves available each time. Either player can claim a draw in this situation, preventing further progress in the game.</a:t>
            </a:r>
          </a:p>
        </p:txBody>
      </p:sp>
      <p:pic>
        <p:nvPicPr>
          <p:cNvPr id="5" name="Picture 4">
            <a:extLst>
              <a:ext uri="{FF2B5EF4-FFF2-40B4-BE49-F238E27FC236}">
                <a16:creationId xmlns:a16="http://schemas.microsoft.com/office/drawing/2014/main" id="{5B01706C-4937-2DB3-3406-922D9162075F}"/>
              </a:ext>
            </a:extLst>
          </p:cNvPr>
          <p:cNvPicPr>
            <a:picLocks noChangeAspect="1"/>
          </p:cNvPicPr>
          <p:nvPr/>
        </p:nvPicPr>
        <p:blipFill>
          <a:blip r:embed="rId2"/>
          <a:srcRect l="13276" r="11872"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431010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9144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Person holding chess piece">
            <a:extLst>
              <a:ext uri="{FF2B5EF4-FFF2-40B4-BE49-F238E27FC236}">
                <a16:creationId xmlns:a16="http://schemas.microsoft.com/office/drawing/2014/main" id="{31EB9077-EFF1-68ED-6FE9-B68BDF0B77D1}"/>
              </a:ext>
            </a:extLst>
          </p:cNvPr>
          <p:cNvPicPr>
            <a:picLocks noChangeAspect="1"/>
          </p:cNvPicPr>
          <p:nvPr/>
        </p:nvPicPr>
        <p:blipFill>
          <a:blip r:embed="rId2"/>
          <a:srcRect t="990"/>
          <a:stretch/>
        </p:blipFill>
        <p:spPr>
          <a:xfrm>
            <a:off x="20" y="1"/>
            <a:ext cx="9143980"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p:spPr>
      </p:pic>
      <p:sp>
        <p:nvSpPr>
          <p:cNvPr id="2" name="Title 1">
            <a:extLst>
              <a:ext uri="{FF2B5EF4-FFF2-40B4-BE49-F238E27FC236}">
                <a16:creationId xmlns:a16="http://schemas.microsoft.com/office/drawing/2014/main" id="{897FC7B9-E07B-C0BC-CBB4-6A9E390B9577}"/>
              </a:ext>
            </a:extLst>
          </p:cNvPr>
          <p:cNvSpPr>
            <a:spLocks noGrp="1"/>
          </p:cNvSpPr>
          <p:nvPr>
            <p:ph type="title"/>
          </p:nvPr>
        </p:nvSpPr>
        <p:spPr>
          <a:xfrm>
            <a:off x="449863" y="5234320"/>
            <a:ext cx="5198489" cy="752217"/>
          </a:xfrm>
        </p:spPr>
        <p:txBody>
          <a:bodyPr vert="horz" lIns="91440" tIns="45720" rIns="91440" bIns="45720" rtlCol="0" anchor="b">
            <a:normAutofit/>
          </a:bodyPr>
          <a:lstStyle/>
          <a:p>
            <a:r>
              <a:rPr lang="en-US" sz="3100" b="1" dirty="0">
                <a:solidFill>
                  <a:schemeClr val="tx1">
                    <a:lumMod val="85000"/>
                    <a:lumOff val="15000"/>
                  </a:schemeClr>
                </a:solidFill>
                <a:latin typeface="Amasis MT Pro Light" panose="02040304050005020304" pitchFamily="18" charset="0"/>
              </a:rPr>
              <a:t>SPECIAL MOVES</a:t>
            </a:r>
          </a:p>
        </p:txBody>
      </p:sp>
    </p:spTree>
    <p:extLst>
      <p:ext uri="{BB962C8B-B14F-4D97-AF65-F5344CB8AC3E}">
        <p14:creationId xmlns:p14="http://schemas.microsoft.com/office/powerpoint/2010/main" val="3158573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1B3D93-3496-468A-D5CA-6D4408F5E230}"/>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4900B1-974D-21DD-6E6D-2AB5F18120BE}"/>
              </a:ext>
            </a:extLst>
          </p:cNvPr>
          <p:cNvSpPr>
            <a:spLocks noGrp="1"/>
          </p:cNvSpPr>
          <p:nvPr>
            <p:ph type="title"/>
          </p:nvPr>
        </p:nvSpPr>
        <p:spPr>
          <a:xfrm>
            <a:off x="473202" y="639520"/>
            <a:ext cx="2571750" cy="1719072"/>
          </a:xfrm>
        </p:spPr>
        <p:txBody>
          <a:bodyPr anchor="b">
            <a:normAutofit/>
          </a:bodyPr>
          <a:lstStyle/>
          <a:p>
            <a:r>
              <a:rPr lang="en-US" sz="4700" b="1" dirty="0"/>
              <a:t>En Passant</a:t>
            </a:r>
            <a:endParaRPr lang="en-IN" sz="4700" b="1" dirty="0"/>
          </a:p>
        </p:txBody>
      </p:sp>
      <p:sp>
        <p:nvSpPr>
          <p:cNvPr id="2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5">
            <a:extLst>
              <a:ext uri="{FF2B5EF4-FFF2-40B4-BE49-F238E27FC236}">
                <a16:creationId xmlns:a16="http://schemas.microsoft.com/office/drawing/2014/main" id="{98F0629C-D965-091F-9813-AC00CD9F9A99}"/>
              </a:ext>
            </a:extLst>
          </p:cNvPr>
          <p:cNvSpPr>
            <a:spLocks noGrp="1"/>
          </p:cNvSpPr>
          <p:nvPr>
            <p:ph idx="1"/>
          </p:nvPr>
        </p:nvSpPr>
        <p:spPr>
          <a:xfrm>
            <a:off x="473202" y="2807208"/>
            <a:ext cx="2571750" cy="3410712"/>
          </a:xfrm>
        </p:spPr>
        <p:txBody>
          <a:bodyPr anchor="t">
            <a:normAutofit/>
          </a:bodyPr>
          <a:lstStyle/>
          <a:p>
            <a:pPr marL="0" indent="0" algn="ctr">
              <a:buNone/>
            </a:pPr>
            <a:r>
              <a:rPr lang="en-US" sz="2000" dirty="0"/>
              <a:t>En passant is a special pawn capture. If an opposing pawn moves two squares forward from its starting position and lands beside your pawn, you can capture it as if it moved one.</a:t>
            </a:r>
            <a:endParaRPr lang="en-US" dirty="0"/>
          </a:p>
        </p:txBody>
      </p:sp>
      <p:pic>
        <p:nvPicPr>
          <p:cNvPr id="6" name="Content Placeholder 5">
            <a:extLst>
              <a:ext uri="{FF2B5EF4-FFF2-40B4-BE49-F238E27FC236}">
                <a16:creationId xmlns:a16="http://schemas.microsoft.com/office/drawing/2014/main" id="{CED22682-D403-13D5-6F43-A66907F7904B}"/>
              </a:ext>
            </a:extLst>
          </p:cNvPr>
          <p:cNvPicPr>
            <a:picLocks noChangeAspect="1"/>
          </p:cNvPicPr>
          <p:nvPr/>
        </p:nvPicPr>
        <p:blipFill>
          <a:blip r:embed="rId2"/>
          <a:srcRect/>
          <a:stretch/>
        </p:blipFill>
        <p:spPr>
          <a:xfrm>
            <a:off x="3490722" y="840105"/>
            <a:ext cx="5177790" cy="5177790"/>
          </a:xfrm>
          <a:prstGeom prst="rect">
            <a:avLst/>
          </a:prstGeom>
          <a:effectLst>
            <a:reflection blurRad="38100" stA="15000" endPos="15000" dist="215900" dir="5400000" sy="-100000" algn="bl" rotWithShape="0"/>
            <a:softEdge rad="0"/>
          </a:effectLst>
        </p:spPr>
      </p:pic>
    </p:spTree>
    <p:extLst>
      <p:ext uri="{BB962C8B-B14F-4D97-AF65-F5344CB8AC3E}">
        <p14:creationId xmlns:p14="http://schemas.microsoft.com/office/powerpoint/2010/main" val="3258259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1D7C61-F2D2-7AC9-C5D5-4EE676E45E8A}"/>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B5E39D6-CAED-2771-3ACB-6142FB108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B97357-B1E2-CC54-E625-BA67DE89BD92}"/>
              </a:ext>
            </a:extLst>
          </p:cNvPr>
          <p:cNvSpPr>
            <a:spLocks noGrp="1"/>
          </p:cNvSpPr>
          <p:nvPr>
            <p:ph type="title"/>
          </p:nvPr>
        </p:nvSpPr>
        <p:spPr>
          <a:xfrm>
            <a:off x="473202" y="639520"/>
            <a:ext cx="2571750" cy="1719072"/>
          </a:xfrm>
        </p:spPr>
        <p:txBody>
          <a:bodyPr anchor="b">
            <a:normAutofit/>
          </a:bodyPr>
          <a:lstStyle/>
          <a:p>
            <a:r>
              <a:rPr lang="en-US" sz="4700" b="1" dirty="0"/>
              <a:t> Castling</a:t>
            </a:r>
            <a:endParaRPr lang="en-IN" sz="4700" b="1" dirty="0"/>
          </a:p>
        </p:txBody>
      </p:sp>
      <p:sp>
        <p:nvSpPr>
          <p:cNvPr id="21" name="sketch line">
            <a:extLst>
              <a:ext uri="{FF2B5EF4-FFF2-40B4-BE49-F238E27FC236}">
                <a16:creationId xmlns:a16="http://schemas.microsoft.com/office/drawing/2014/main" id="{F488EEF5-CCFF-22BF-EEDC-F93052CA1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5">
            <a:extLst>
              <a:ext uri="{FF2B5EF4-FFF2-40B4-BE49-F238E27FC236}">
                <a16:creationId xmlns:a16="http://schemas.microsoft.com/office/drawing/2014/main" id="{4D47E3E0-A6B2-B27D-09BC-AD20414DD73E}"/>
              </a:ext>
            </a:extLst>
          </p:cNvPr>
          <p:cNvSpPr>
            <a:spLocks noGrp="1"/>
          </p:cNvSpPr>
          <p:nvPr>
            <p:ph idx="1"/>
          </p:nvPr>
        </p:nvSpPr>
        <p:spPr>
          <a:xfrm>
            <a:off x="473202" y="2807208"/>
            <a:ext cx="2571750" cy="3410712"/>
          </a:xfrm>
        </p:spPr>
        <p:txBody>
          <a:bodyPr anchor="t">
            <a:normAutofit/>
          </a:bodyPr>
          <a:lstStyle/>
          <a:p>
            <a:pPr marL="0" indent="0" algn="ctr">
              <a:buNone/>
            </a:pPr>
            <a:r>
              <a:rPr lang="en-US" sz="1800" dirty="0"/>
              <a:t>Castling is a defensive move involving the king and a rook. If neither piece has moved and no squares between are under attack, the king moves two squares toward the rook, which jumps over.</a:t>
            </a:r>
            <a:endParaRPr lang="en-US" sz="2400" dirty="0"/>
          </a:p>
        </p:txBody>
      </p:sp>
      <p:pic>
        <p:nvPicPr>
          <p:cNvPr id="6" name="Content Placeholder 5" descr="A screenshot of a game">
            <a:extLst>
              <a:ext uri="{FF2B5EF4-FFF2-40B4-BE49-F238E27FC236}">
                <a16:creationId xmlns:a16="http://schemas.microsoft.com/office/drawing/2014/main" id="{A0D115E0-DA35-BB3C-E70F-0764796EC82B}"/>
              </a:ext>
            </a:extLst>
          </p:cNvPr>
          <p:cNvPicPr>
            <a:picLocks noChangeAspect="1"/>
          </p:cNvPicPr>
          <p:nvPr/>
        </p:nvPicPr>
        <p:blipFill>
          <a:blip r:embed="rId2"/>
          <a:stretch>
            <a:fillRect/>
          </a:stretch>
        </p:blipFill>
        <p:spPr>
          <a:xfrm>
            <a:off x="3490722" y="840105"/>
            <a:ext cx="5177790" cy="5177790"/>
          </a:xfrm>
          <a:prstGeom prst="rect">
            <a:avLst/>
          </a:prstGeom>
          <a:effectLst>
            <a:reflection blurRad="38100" stA="15000" endPos="15000" dist="215900" dir="5400000" sy="-100000" algn="bl" rotWithShape="0"/>
            <a:softEdge rad="0"/>
          </a:effectLst>
        </p:spPr>
      </p:pic>
    </p:spTree>
    <p:extLst>
      <p:ext uri="{BB962C8B-B14F-4D97-AF65-F5344CB8AC3E}">
        <p14:creationId xmlns:p14="http://schemas.microsoft.com/office/powerpoint/2010/main" val="2166221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796620-7F8C-93AF-7E87-74DB4AED1B9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B41A0C0-AFF5-EAF1-828A-410FB59D1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D228AA-A627-BE20-1BF8-C7B22203C2CB}"/>
              </a:ext>
            </a:extLst>
          </p:cNvPr>
          <p:cNvSpPr>
            <a:spLocks noGrp="1"/>
          </p:cNvSpPr>
          <p:nvPr>
            <p:ph type="title"/>
          </p:nvPr>
        </p:nvSpPr>
        <p:spPr>
          <a:xfrm>
            <a:off x="473202" y="639520"/>
            <a:ext cx="2571750" cy="1719072"/>
          </a:xfrm>
        </p:spPr>
        <p:txBody>
          <a:bodyPr anchor="b">
            <a:normAutofit fontScale="90000"/>
          </a:bodyPr>
          <a:lstStyle/>
          <a:p>
            <a:r>
              <a:rPr lang="en-US" sz="4700" b="1" dirty="0"/>
              <a:t>Pawn Promotion</a:t>
            </a:r>
            <a:endParaRPr lang="en-IN" sz="4700" b="1" dirty="0"/>
          </a:p>
        </p:txBody>
      </p:sp>
      <p:sp>
        <p:nvSpPr>
          <p:cNvPr id="21" name="sketch line">
            <a:extLst>
              <a:ext uri="{FF2B5EF4-FFF2-40B4-BE49-F238E27FC236}">
                <a16:creationId xmlns:a16="http://schemas.microsoft.com/office/drawing/2014/main" id="{C6CB65CF-2B56-436B-0806-8E41EF0EB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5">
            <a:extLst>
              <a:ext uri="{FF2B5EF4-FFF2-40B4-BE49-F238E27FC236}">
                <a16:creationId xmlns:a16="http://schemas.microsoft.com/office/drawing/2014/main" id="{E86C7E4E-DEAE-F058-1D6E-F3F53DE0B66A}"/>
              </a:ext>
            </a:extLst>
          </p:cNvPr>
          <p:cNvSpPr>
            <a:spLocks noGrp="1"/>
          </p:cNvSpPr>
          <p:nvPr>
            <p:ph idx="1"/>
          </p:nvPr>
        </p:nvSpPr>
        <p:spPr>
          <a:xfrm>
            <a:off x="473202" y="2807208"/>
            <a:ext cx="2571750" cy="3410712"/>
          </a:xfrm>
        </p:spPr>
        <p:txBody>
          <a:bodyPr anchor="t">
            <a:normAutofit/>
          </a:bodyPr>
          <a:lstStyle/>
          <a:p>
            <a:pPr marL="0" indent="0" algn="ctr">
              <a:buNone/>
            </a:pPr>
            <a:r>
              <a:rPr lang="en-US" sz="2000" dirty="0"/>
              <a:t>Pawn promotion occurs when a pawn reaches the opponent’s back rank. It is then promoted to a queen, rook, bishop, or knight, typically a queen, gaining new power and strategic importance</a:t>
            </a:r>
            <a:r>
              <a:rPr lang="en-US" sz="1400" dirty="0"/>
              <a:t>.</a:t>
            </a:r>
            <a:endParaRPr lang="en-US" sz="1900" dirty="0"/>
          </a:p>
        </p:txBody>
      </p:sp>
      <p:pic>
        <p:nvPicPr>
          <p:cNvPr id="6" name="Content Placeholder 5">
            <a:extLst>
              <a:ext uri="{FF2B5EF4-FFF2-40B4-BE49-F238E27FC236}">
                <a16:creationId xmlns:a16="http://schemas.microsoft.com/office/drawing/2014/main" id="{273ABA0C-8C11-25F5-98FA-E50BD30B3439}"/>
              </a:ext>
            </a:extLst>
          </p:cNvPr>
          <p:cNvPicPr>
            <a:picLocks noChangeAspect="1"/>
          </p:cNvPicPr>
          <p:nvPr/>
        </p:nvPicPr>
        <p:blipFill>
          <a:blip r:embed="rId2"/>
          <a:srcRect/>
          <a:stretch/>
        </p:blipFill>
        <p:spPr>
          <a:xfrm>
            <a:off x="3490722" y="840105"/>
            <a:ext cx="5177790" cy="5177790"/>
          </a:xfrm>
          <a:prstGeom prst="rect">
            <a:avLst/>
          </a:prstGeom>
          <a:effectLst>
            <a:reflection blurRad="38100" stA="15000" endPos="15000" dist="215900" dir="5400000" sy="-100000" algn="bl" rotWithShape="0"/>
            <a:softEdge rad="0"/>
          </a:effectLst>
        </p:spPr>
      </p:pic>
    </p:spTree>
    <p:extLst>
      <p:ext uri="{BB962C8B-B14F-4D97-AF65-F5344CB8AC3E}">
        <p14:creationId xmlns:p14="http://schemas.microsoft.com/office/powerpoint/2010/main" val="727350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IN" sz="2900"/>
              <a:t>Technical Implementation</a:t>
            </a:r>
          </a:p>
        </p:txBody>
      </p:sp>
      <p:sp>
        <p:nvSpPr>
          <p:cNvPr id="23"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ontent Placeholder 2">
            <a:extLst>
              <a:ext uri="{FF2B5EF4-FFF2-40B4-BE49-F238E27FC236}">
                <a16:creationId xmlns:a16="http://schemas.microsoft.com/office/drawing/2014/main" id="{6FF4EA6A-732A-C7C8-195C-ADEB6A891DB1}"/>
              </a:ext>
            </a:extLst>
          </p:cNvPr>
          <p:cNvGraphicFramePr>
            <a:graphicFrameLocks noGrp="1"/>
          </p:cNvGraphicFramePr>
          <p:nvPr>
            <p:ph idx="1"/>
            <p:extLst>
              <p:ext uri="{D42A27DB-BD31-4B8C-83A1-F6EECF244321}">
                <p14:modId xmlns:p14="http://schemas.microsoft.com/office/powerpoint/2010/main" val="3536008403"/>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anchor="b">
            <a:normAutofit/>
          </a:bodyPr>
          <a:lstStyle/>
          <a:p>
            <a:pPr algn="ctr"/>
            <a:r>
              <a:rPr lang="en-US" sz="4300" dirty="0"/>
              <a:t>CAISSA</a:t>
            </a:r>
            <a:br>
              <a:rPr lang="en-US" sz="4300" dirty="0"/>
            </a:br>
            <a:r>
              <a:rPr lang="en-US" sz="4300" dirty="0"/>
              <a:t>INTERFACE</a:t>
            </a:r>
            <a:endParaRPr lang="en-IN" sz="4300" dirty="0"/>
          </a:p>
        </p:txBody>
      </p:sp>
      <p:sp>
        <p:nvSpPr>
          <p:cNvPr id="2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73202" y="2807208"/>
            <a:ext cx="2571750" cy="3410712"/>
          </a:xfrm>
        </p:spPr>
        <p:txBody>
          <a:bodyPr anchor="t">
            <a:normAutofit/>
          </a:bodyPr>
          <a:lstStyle/>
          <a:p>
            <a:r>
              <a:rPr lang="en-US" sz="1900"/>
              <a:t>Game interface showing current position and evaluation bar.</a:t>
            </a:r>
          </a:p>
          <a:p>
            <a:r>
              <a:rPr lang="en-US" sz="1900"/>
              <a:t>Captured pieces, player indicators, and user controls.</a:t>
            </a:r>
          </a:p>
          <a:p>
            <a:r>
              <a:rPr lang="en-US" sz="1900"/>
              <a:t>Highlight of last move and possible moves.</a:t>
            </a:r>
          </a:p>
        </p:txBody>
      </p:sp>
      <p:pic>
        <p:nvPicPr>
          <p:cNvPr id="5" name="Picture 4">
            <a:extLst>
              <a:ext uri="{FF2B5EF4-FFF2-40B4-BE49-F238E27FC236}">
                <a16:creationId xmlns:a16="http://schemas.microsoft.com/office/drawing/2014/main" id="{3FB31CB3-2BE2-C15F-9419-612D62AE525E}"/>
              </a:ext>
            </a:extLst>
          </p:cNvPr>
          <p:cNvPicPr>
            <a:picLocks noChangeAspect="1"/>
          </p:cNvPicPr>
          <p:nvPr/>
        </p:nvPicPr>
        <p:blipFill>
          <a:blip r:embed="rId2"/>
          <a:stretch>
            <a:fillRect/>
          </a:stretch>
        </p:blipFill>
        <p:spPr>
          <a:xfrm>
            <a:off x="3366338" y="1057754"/>
            <a:ext cx="5456275" cy="49609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77107" y="220196"/>
            <a:ext cx="7066893"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57350" y="2099696"/>
            <a:ext cx="1456680"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836384" y="1866059"/>
            <a:ext cx="2987899" cy="2240924"/>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D82888-AAC9-643A-A29D-3AF83E5CDD5B}"/>
              </a:ext>
            </a:extLst>
          </p:cNvPr>
          <p:cNvSpPr>
            <a:spLocks noGrp="1"/>
          </p:cNvSpPr>
          <p:nvPr>
            <p:ph type="title"/>
          </p:nvPr>
        </p:nvSpPr>
        <p:spPr>
          <a:xfrm>
            <a:off x="3028950" y="1939159"/>
            <a:ext cx="5733470" cy="2751086"/>
          </a:xfrm>
        </p:spPr>
        <p:txBody>
          <a:bodyPr vert="horz" lIns="91440" tIns="45720" rIns="91440" bIns="45720" rtlCol="0" anchor="b">
            <a:normAutofit/>
          </a:bodyPr>
          <a:lstStyle/>
          <a:p>
            <a:pPr algn="r"/>
            <a:r>
              <a:rPr lang="en-US" sz="6000" kern="1200">
                <a:solidFill>
                  <a:schemeClr val="tx1"/>
                </a:solidFill>
                <a:latin typeface="+mj-lt"/>
                <a:ea typeface="+mj-ea"/>
                <a:cs typeface="+mj-cs"/>
              </a:rPr>
              <a:t>HOW IT WORKS???</a:t>
            </a:r>
          </a:p>
        </p:txBody>
      </p:sp>
    </p:spTree>
    <p:extLst>
      <p:ext uri="{BB962C8B-B14F-4D97-AF65-F5344CB8AC3E}">
        <p14:creationId xmlns:p14="http://schemas.microsoft.com/office/powerpoint/2010/main" val="2374918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18F432-A410-2D9E-CE60-48D04D38043D}"/>
              </a:ext>
            </a:extLst>
          </p:cNvPr>
          <p:cNvSpPr>
            <a:spLocks noGrp="1"/>
          </p:cNvSpPr>
          <p:nvPr>
            <p:ph type="title"/>
          </p:nvPr>
        </p:nvSpPr>
        <p:spPr>
          <a:xfrm>
            <a:off x="3973321" y="329184"/>
            <a:ext cx="4688333" cy="1783080"/>
          </a:xfrm>
        </p:spPr>
        <p:txBody>
          <a:bodyPr anchor="b">
            <a:normAutofit/>
          </a:bodyPr>
          <a:lstStyle/>
          <a:p>
            <a:pPr algn="ctr"/>
            <a:r>
              <a:rPr lang="en-US" sz="4700"/>
              <a:t>EVALUATION </a:t>
            </a:r>
            <a:r>
              <a:rPr lang="en-US" sz="4700" dirty="0"/>
              <a:t>FUNCTION</a:t>
            </a:r>
            <a:endParaRPr lang="en-IN" sz="4700" dirty="0"/>
          </a:p>
        </p:txBody>
      </p:sp>
      <p:pic>
        <p:nvPicPr>
          <p:cNvPr id="7" name="Picture 6" descr="Chess checkmate">
            <a:extLst>
              <a:ext uri="{FF2B5EF4-FFF2-40B4-BE49-F238E27FC236}">
                <a16:creationId xmlns:a16="http://schemas.microsoft.com/office/drawing/2014/main" id="{A902A3E1-7FA3-5DEC-1CFE-34AAA22F3AAA}"/>
              </a:ext>
            </a:extLst>
          </p:cNvPr>
          <p:cNvPicPr>
            <a:picLocks noChangeAspect="1"/>
          </p:cNvPicPr>
          <p:nvPr/>
        </p:nvPicPr>
        <p:blipFill>
          <a:blip r:embed="rId2"/>
          <a:srcRect l="49789" r="16213"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36A4E49E-E554-E74A-A8E5-810EE39EE4CE}"/>
              </a:ext>
            </a:extLst>
          </p:cNvPr>
          <p:cNvSpPr>
            <a:spLocks noGrp="1" noChangeArrowheads="1"/>
          </p:cNvSpPr>
          <p:nvPr>
            <p:ph idx="1"/>
          </p:nvPr>
        </p:nvSpPr>
        <p:spPr bwMode="auto">
          <a:xfrm>
            <a:off x="3973321" y="2706623"/>
            <a:ext cx="4875711" cy="366467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effectLst/>
                <a:latin typeface="Arial" panose="020B0604020202020204" pitchFamily="34" charset="0"/>
              </a:rPr>
              <a:t>  The </a:t>
            </a:r>
            <a:r>
              <a:rPr kumimoji="0" lang="en-US" altLang="en-US" sz="1600" b="1" i="0" u="none" strike="noStrike" cap="none" normalizeH="0" baseline="0" dirty="0">
                <a:ln>
                  <a:noFill/>
                </a:ln>
                <a:effectLst/>
                <a:latin typeface="Arial" panose="020B0604020202020204" pitchFamily="34" charset="0"/>
              </a:rPr>
              <a:t>evaluation function</a:t>
            </a:r>
            <a:r>
              <a:rPr kumimoji="0" lang="en-US" altLang="en-US" sz="1600" b="0" i="0" u="none" strike="noStrike" cap="none" normalizeH="0" baseline="0" dirty="0">
                <a:ln>
                  <a:noFill/>
                </a:ln>
                <a:effectLst/>
                <a:latin typeface="Arial" panose="020B0604020202020204" pitchFamily="34" charset="0"/>
              </a:rPr>
              <a:t> measures the strength of a chess board.</a:t>
            </a: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  Positive value</a:t>
            </a:r>
            <a:r>
              <a:rPr kumimoji="0" lang="en-US" altLang="en-US" sz="1600" b="0" i="0" u="none" strike="noStrike" cap="none" normalizeH="0" baseline="0" dirty="0">
                <a:ln>
                  <a:noFill/>
                </a:ln>
                <a:effectLst/>
                <a:latin typeface="Arial" panose="020B0604020202020204" pitchFamily="34" charset="0"/>
              </a:rPr>
              <a:t> → White is better; </a:t>
            </a:r>
            <a:r>
              <a:rPr kumimoji="0" lang="en-US" altLang="en-US" sz="1600" b="1" i="0" u="none" strike="noStrike" cap="none" normalizeH="0" baseline="0" dirty="0">
                <a:ln>
                  <a:noFill/>
                </a:ln>
                <a:effectLst/>
                <a:latin typeface="Arial" panose="020B0604020202020204" pitchFamily="34" charset="0"/>
              </a:rPr>
              <a:t>Negative value</a:t>
            </a:r>
            <a:r>
              <a:rPr kumimoji="0" lang="en-US" altLang="en-US" sz="1600" b="0" i="0" u="none" strike="noStrike" cap="none" normalizeH="0" baseline="0" dirty="0">
                <a:ln>
                  <a:noFill/>
                </a:ln>
                <a:effectLst/>
                <a:latin typeface="Arial" panose="020B0604020202020204" pitchFamily="34" charset="0"/>
              </a:rPr>
              <a:t> → Black is better.</a:t>
            </a:r>
          </a:p>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effectLst/>
                <a:latin typeface="Arial" panose="020B0604020202020204" pitchFamily="34" charset="0"/>
              </a:rPr>
              <a:t>  A score near </a:t>
            </a:r>
            <a:r>
              <a:rPr kumimoji="0" lang="en-US" altLang="en-US" sz="1600" b="1" i="0" u="none" strike="noStrike" cap="none" normalizeH="0" baseline="0" dirty="0">
                <a:ln>
                  <a:noFill/>
                </a:ln>
                <a:effectLst/>
                <a:latin typeface="Arial" panose="020B0604020202020204" pitchFamily="34" charset="0"/>
              </a:rPr>
              <a:t>zero</a:t>
            </a:r>
            <a:r>
              <a:rPr kumimoji="0" lang="en-US" altLang="en-US" sz="1600" b="0" i="0" u="none" strike="noStrike" cap="none" normalizeH="0" baseline="0" dirty="0">
                <a:ln>
                  <a:noFill/>
                </a:ln>
                <a:effectLst/>
                <a:latin typeface="Arial" panose="020B0604020202020204" pitchFamily="34" charset="0"/>
              </a:rPr>
              <a:t> indicates an equal position.</a:t>
            </a: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  Piece values (in ones):</a:t>
            </a:r>
            <a:endParaRPr kumimoji="0" lang="en-US" altLang="en-US" sz="1600"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200" b="0" i="0" u="none" strike="noStrike" cap="none" normalizeH="0" baseline="0" dirty="0">
                <a:ln>
                  <a:noFill/>
                </a:ln>
                <a:effectLst/>
                <a:latin typeface="Arial" panose="020B0604020202020204" pitchFamily="34" charset="0"/>
              </a:rPr>
              <a:t> Pawn = 1</a:t>
            </a:r>
          </a:p>
          <a:p>
            <a:pPr marL="457200" lvl="1" indent="0" eaLnBrk="0" fontAlgn="base" hangingPunct="0">
              <a:spcBef>
                <a:spcPct val="0"/>
              </a:spcBef>
              <a:spcAft>
                <a:spcPts val="600"/>
              </a:spcAft>
              <a:buFontTx/>
              <a:buChar char="•"/>
            </a:pPr>
            <a:r>
              <a:rPr kumimoji="0" lang="en-US" altLang="en-US" sz="1200" b="0" i="0" u="none" strike="noStrike" cap="none" normalizeH="0" baseline="0" dirty="0">
                <a:ln>
                  <a:noFill/>
                </a:ln>
                <a:effectLst/>
                <a:latin typeface="Arial" panose="020B0604020202020204" pitchFamily="34" charset="0"/>
              </a:rPr>
              <a:t> Knight = 3</a:t>
            </a:r>
          </a:p>
          <a:p>
            <a:pPr marL="457200" lvl="1" indent="0" eaLnBrk="0" fontAlgn="base" hangingPunct="0">
              <a:spcBef>
                <a:spcPct val="0"/>
              </a:spcBef>
              <a:spcAft>
                <a:spcPts val="600"/>
              </a:spcAft>
              <a:buFontTx/>
              <a:buChar char="•"/>
            </a:pPr>
            <a:r>
              <a:rPr kumimoji="0" lang="en-US" altLang="en-US" sz="1200" b="0" i="0" u="none" strike="noStrike" cap="none" normalizeH="0" baseline="0" dirty="0">
                <a:ln>
                  <a:noFill/>
                </a:ln>
                <a:effectLst/>
                <a:latin typeface="Arial" panose="020B0604020202020204" pitchFamily="34" charset="0"/>
              </a:rPr>
              <a:t> Bishop = 3</a:t>
            </a:r>
          </a:p>
          <a:p>
            <a:pPr marL="457200" lvl="1" indent="0" eaLnBrk="0" fontAlgn="base" hangingPunct="0">
              <a:spcBef>
                <a:spcPct val="0"/>
              </a:spcBef>
              <a:spcAft>
                <a:spcPts val="600"/>
              </a:spcAft>
              <a:buFontTx/>
              <a:buChar char="•"/>
            </a:pPr>
            <a:r>
              <a:rPr kumimoji="0" lang="en-US" altLang="en-US" sz="1200" b="0" i="0" u="none" strike="noStrike" cap="none" normalizeH="0" baseline="0" dirty="0">
                <a:ln>
                  <a:noFill/>
                </a:ln>
                <a:effectLst/>
                <a:latin typeface="Arial" panose="020B0604020202020204" pitchFamily="34" charset="0"/>
              </a:rPr>
              <a:t> Rook = 5</a:t>
            </a:r>
          </a:p>
          <a:p>
            <a:pPr marL="457200" lvl="1" indent="0" eaLnBrk="0" fontAlgn="base" hangingPunct="0">
              <a:spcBef>
                <a:spcPct val="0"/>
              </a:spcBef>
              <a:spcAft>
                <a:spcPts val="600"/>
              </a:spcAft>
              <a:buFontTx/>
              <a:buChar char="•"/>
            </a:pPr>
            <a:r>
              <a:rPr kumimoji="0" lang="en-US" altLang="en-US" sz="1200" b="0" i="0" u="none" strike="noStrike" cap="none" normalizeH="0" baseline="0" dirty="0">
                <a:ln>
                  <a:noFill/>
                </a:ln>
                <a:effectLst/>
                <a:latin typeface="Arial" panose="020B0604020202020204" pitchFamily="34" charset="0"/>
              </a:rPr>
              <a:t> Queen = 9</a:t>
            </a:r>
          </a:p>
          <a:p>
            <a:pPr marL="0" marR="0" lvl="0" indent="0" defTabSz="914400" rtl="0" eaLnBrk="0" fontAlgn="base" latinLnBrk="0" hangingPunct="0">
              <a:spcBef>
                <a:spcPct val="0"/>
              </a:spcBef>
              <a:spcAft>
                <a:spcPts val="600"/>
              </a:spcAft>
              <a:buClrTx/>
              <a:buSzTx/>
              <a:buFontTx/>
              <a:buChar char="•"/>
              <a:tabLst/>
            </a:pPr>
            <a:r>
              <a:rPr kumimoji="0" lang="en-US" altLang="en-US" sz="1600" b="0" i="0" u="none" strike="noStrike" cap="none" normalizeH="0" baseline="0" dirty="0">
                <a:ln>
                  <a:noFill/>
                </a:ln>
                <a:effectLst/>
                <a:latin typeface="Arial" panose="020B0604020202020204" pitchFamily="34" charset="0"/>
              </a:rPr>
              <a:t>  The </a:t>
            </a:r>
            <a:r>
              <a:rPr kumimoji="0" lang="en-US" altLang="en-US" sz="1600" b="1" i="0" u="none" strike="noStrike" cap="none" normalizeH="0" baseline="0" dirty="0">
                <a:ln>
                  <a:noFill/>
                </a:ln>
                <a:effectLst/>
                <a:latin typeface="Arial" panose="020B0604020202020204" pitchFamily="34" charset="0"/>
              </a:rPr>
              <a:t>king has no material value</a:t>
            </a:r>
            <a:r>
              <a:rPr kumimoji="0" lang="en-US" altLang="en-US" sz="1600" b="0" i="0" u="none" strike="noStrike" cap="none" normalizeH="0" baseline="0" dirty="0">
                <a:ln>
                  <a:noFill/>
                </a:ln>
                <a:effectLst/>
                <a:latin typeface="Arial" panose="020B0604020202020204" pitchFamily="34" charset="0"/>
              </a:rPr>
              <a:t>, but its </a:t>
            </a:r>
            <a:r>
              <a:rPr kumimoji="0" lang="en-US" altLang="en-US" sz="1600" b="1" i="0" u="none" strike="noStrike" cap="none" normalizeH="0" baseline="0" dirty="0">
                <a:ln>
                  <a:noFill/>
                </a:ln>
                <a:effectLst/>
                <a:latin typeface="Arial" panose="020B0604020202020204" pitchFamily="34" charset="0"/>
              </a:rPr>
              <a:t>safety and activity</a:t>
            </a:r>
            <a:r>
              <a:rPr kumimoji="0" lang="en-US" altLang="en-US" sz="1600" b="0" i="0" u="none" strike="noStrike" cap="none" normalizeH="0" baseline="0" dirty="0">
                <a:ln>
                  <a:noFill/>
                </a:ln>
                <a:effectLst/>
                <a:latin typeface="Arial" panose="020B0604020202020204" pitchFamily="34" charset="0"/>
              </a:rPr>
              <a:t> are evaluated.</a:t>
            </a:r>
          </a:p>
          <a:p>
            <a:pPr marL="0" marR="0" lvl="0" indent="0" defTabSz="914400" rtl="0" eaLnBrk="0" fontAlgn="base" latinLnBrk="0" hangingPunct="0">
              <a:spcBef>
                <a:spcPct val="0"/>
              </a:spcBef>
              <a:spcAft>
                <a:spcPts val="600"/>
              </a:spcAft>
              <a:buClrTx/>
              <a:buSzTx/>
              <a:buFontTx/>
              <a:buChar char="•"/>
              <a:tabLst/>
            </a:pPr>
            <a:r>
              <a:rPr lang="en-US" altLang="en-US" sz="1600" dirty="0">
                <a:latin typeface="Arial" panose="020B0604020202020204" pitchFamily="34" charset="0"/>
              </a:rPr>
              <a:t>  Thus, the white tries to </a:t>
            </a:r>
            <a:r>
              <a:rPr lang="en-US" altLang="en-US" sz="1600" b="1" dirty="0">
                <a:latin typeface="Arial" panose="020B0604020202020204" pitchFamily="34" charset="0"/>
              </a:rPr>
              <a:t>maximize</a:t>
            </a:r>
            <a:r>
              <a:rPr lang="en-US" altLang="en-US" sz="1600" dirty="0">
                <a:latin typeface="Arial" panose="020B0604020202020204" pitchFamily="34" charset="0"/>
              </a:rPr>
              <a:t> the evaluation whereas black tries to </a:t>
            </a:r>
            <a:r>
              <a:rPr lang="en-US" altLang="en-US" sz="1600" b="1" dirty="0">
                <a:latin typeface="Arial" panose="020B0604020202020204" pitchFamily="34" charset="0"/>
              </a:rPr>
              <a:t>minimize</a:t>
            </a:r>
            <a:r>
              <a:rPr lang="en-US" altLang="en-US" sz="1600" dirty="0">
                <a:latin typeface="Arial" panose="020B0604020202020204" pitchFamily="34" charset="0"/>
              </a:rPr>
              <a:t> it.</a:t>
            </a:r>
            <a:endParaRPr kumimoji="0" lang="en-US" altLang="en-US"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63156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AD5A430-8133-4CC7-826E-4712A2A3B9E5}"/>
              </a:ext>
            </a:extLst>
          </p:cNvPr>
          <p:cNvSpPr>
            <a:spLocks noGrp="1"/>
          </p:cNvSpPr>
          <p:nvPr>
            <p:ph type="title"/>
          </p:nvPr>
        </p:nvSpPr>
        <p:spPr>
          <a:xfrm>
            <a:off x="628650" y="365125"/>
            <a:ext cx="7886700" cy="1325563"/>
          </a:xfrm>
        </p:spPr>
        <p:txBody>
          <a:bodyPr>
            <a:normAutofit/>
          </a:bodyPr>
          <a:lstStyle/>
          <a:p>
            <a:r>
              <a:rPr lang="en-US" dirty="0"/>
              <a:t>	   MINMAX ALGORITHM</a:t>
            </a:r>
            <a:endParaRPr lang="en-IN"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B2D5F55-FB1E-74AB-B759-B99489FBFBC7}"/>
              </a:ext>
            </a:extLst>
          </p:cNvPr>
          <p:cNvSpPr>
            <a:spLocks noGrp="1"/>
          </p:cNvSpPr>
          <p:nvPr>
            <p:ph idx="1"/>
          </p:nvPr>
        </p:nvSpPr>
        <p:spPr>
          <a:xfrm>
            <a:off x="628650" y="1825625"/>
            <a:ext cx="7886700" cy="4351338"/>
          </a:xfrm>
        </p:spPr>
        <p:txBody>
          <a:bodyPr>
            <a:normAutofit/>
          </a:bodyPr>
          <a:lstStyle/>
          <a:p>
            <a:pPr>
              <a:buNone/>
            </a:pPr>
            <a:r>
              <a:rPr lang="en-US" sz="2200" dirty="0"/>
              <a:t>The </a:t>
            </a:r>
            <a:r>
              <a:rPr lang="en-US" sz="2200" b="1" dirty="0"/>
              <a:t>Minimax algorithm</a:t>
            </a:r>
            <a:r>
              <a:rPr lang="en-US" sz="2200" dirty="0"/>
              <a:t> is a decision-making algorithm used in two-player turn-based games like chess. It assumes both players play optimally. The </a:t>
            </a:r>
            <a:r>
              <a:rPr lang="en-US" sz="2200" b="1" dirty="0"/>
              <a:t>AI (maximizer)</a:t>
            </a:r>
            <a:r>
              <a:rPr lang="en-US" sz="2200" dirty="0"/>
              <a:t> tries to </a:t>
            </a:r>
            <a:r>
              <a:rPr lang="en-US" sz="2200" b="1" dirty="0"/>
              <a:t>maximize its chances of winning</a:t>
            </a:r>
            <a:r>
              <a:rPr lang="en-US" sz="2200" dirty="0"/>
              <a:t>, while the </a:t>
            </a:r>
            <a:r>
              <a:rPr lang="en-US" sz="2200" b="1" dirty="0"/>
              <a:t>opponent (minimizer)</a:t>
            </a:r>
            <a:r>
              <a:rPr lang="en-US" sz="2200" dirty="0"/>
              <a:t> tries to </a:t>
            </a:r>
            <a:r>
              <a:rPr lang="en-US" sz="2200" b="1" dirty="0"/>
              <a:t>minimize</a:t>
            </a:r>
            <a:r>
              <a:rPr lang="en-US" sz="2200" dirty="0"/>
              <a:t> them.</a:t>
            </a:r>
          </a:p>
          <a:p>
            <a:pPr>
              <a:buNone/>
            </a:pPr>
            <a:r>
              <a:rPr lang="en-US" sz="2200" b="1" dirty="0"/>
              <a:t>How It Works:</a:t>
            </a:r>
            <a:endParaRPr lang="en-US" sz="2200" dirty="0"/>
          </a:p>
          <a:p>
            <a:pPr>
              <a:buFont typeface="Arial" panose="020B0604020202020204" pitchFamily="34" charset="0"/>
              <a:buChar char="•"/>
            </a:pPr>
            <a:r>
              <a:rPr lang="en-US" sz="2200" dirty="0"/>
              <a:t>The game tree is constructed with all possible future moves up to a certain depth.</a:t>
            </a:r>
          </a:p>
          <a:p>
            <a:pPr>
              <a:buFont typeface="Arial" panose="020B0604020202020204" pitchFamily="34" charset="0"/>
              <a:buChar char="•"/>
            </a:pPr>
            <a:r>
              <a:rPr lang="en-US" sz="2200" dirty="0"/>
              <a:t>The AI simulates all possible opponent responses.</a:t>
            </a:r>
          </a:p>
          <a:p>
            <a:pPr>
              <a:buFont typeface="Arial" panose="020B0604020202020204" pitchFamily="34" charset="0"/>
              <a:buChar char="•"/>
            </a:pPr>
            <a:r>
              <a:rPr lang="en-US" sz="2200" dirty="0"/>
              <a:t>Leaf nodes are evaluated using a scoring (evaluation) function.</a:t>
            </a:r>
          </a:p>
          <a:p>
            <a:pPr>
              <a:buFont typeface="Arial" panose="020B0604020202020204" pitchFamily="34" charset="0"/>
              <a:buChar char="•"/>
            </a:pPr>
            <a:r>
              <a:rPr lang="en-US" sz="2200" dirty="0"/>
              <a:t>The algorithm chooses the move that leads to the best guaranteed outcome assuming the opponent plays optimally.</a:t>
            </a:r>
          </a:p>
          <a:p>
            <a:pPr marL="0" indent="0">
              <a:buNone/>
            </a:pPr>
            <a:endParaRPr lang="en-IN" sz="2200" dirty="0"/>
          </a:p>
        </p:txBody>
      </p:sp>
    </p:spTree>
    <p:extLst>
      <p:ext uri="{BB962C8B-B14F-4D97-AF65-F5344CB8AC3E}">
        <p14:creationId xmlns:p14="http://schemas.microsoft.com/office/powerpoint/2010/main" val="2946000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4293"/>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3125451"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70968-F1D7-88D6-47EA-E9588F91BB80}"/>
              </a:ext>
            </a:extLst>
          </p:cNvPr>
          <p:cNvSpPr>
            <a:spLocks noGrp="1"/>
          </p:cNvSpPr>
          <p:nvPr>
            <p:ph type="title"/>
          </p:nvPr>
        </p:nvSpPr>
        <p:spPr>
          <a:xfrm>
            <a:off x="515125" y="591344"/>
            <a:ext cx="2400300" cy="5585619"/>
          </a:xfrm>
        </p:spPr>
        <p:txBody>
          <a:bodyPr>
            <a:normAutofit/>
          </a:bodyPr>
          <a:lstStyle/>
          <a:p>
            <a:r>
              <a:rPr lang="en-US" sz="3100" dirty="0">
                <a:solidFill>
                  <a:srgbClr val="FFFFFF"/>
                </a:solidFill>
              </a:rPr>
              <a:t>MINMAX PSEUDOCODE</a:t>
            </a:r>
            <a:endParaRPr lang="en-IN" sz="3100" dirty="0">
              <a:solidFill>
                <a:srgbClr val="FFFFFF"/>
              </a:solidFill>
            </a:endParaRPr>
          </a:p>
        </p:txBody>
      </p:sp>
      <p:sp>
        <p:nvSpPr>
          <p:cNvPr id="41" name="Arc 4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2" name="Content Placeholder 2">
            <a:extLst>
              <a:ext uri="{FF2B5EF4-FFF2-40B4-BE49-F238E27FC236}">
                <a16:creationId xmlns:a16="http://schemas.microsoft.com/office/drawing/2014/main" id="{9F9A7F59-F717-FB04-024E-5511B76689C4}"/>
              </a:ext>
            </a:extLst>
          </p:cNvPr>
          <p:cNvSpPr>
            <a:spLocks noGrp="1"/>
          </p:cNvSpPr>
          <p:nvPr>
            <p:ph idx="1"/>
          </p:nvPr>
        </p:nvSpPr>
        <p:spPr>
          <a:xfrm>
            <a:off x="3335481" y="591344"/>
            <a:ext cx="5179868" cy="5585619"/>
          </a:xfrm>
        </p:spPr>
        <p:txBody>
          <a:bodyPr anchor="ctr">
            <a:normAutofit/>
          </a:bodyPr>
          <a:lstStyle/>
          <a:p>
            <a:pPr marL="0" indent="0">
              <a:buNone/>
            </a:pPr>
            <a:r>
              <a:rPr lang="en-IN" sz="1500"/>
              <a:t>function minimax(node, depth, </a:t>
            </a:r>
            <a:r>
              <a:rPr lang="en-IN" sz="1500" err="1"/>
              <a:t>isMaximizingPlayer</a:t>
            </a:r>
            <a:r>
              <a:rPr lang="en-IN" sz="1500"/>
              <a:t>):</a:t>
            </a:r>
          </a:p>
          <a:p>
            <a:pPr marL="0" indent="0">
              <a:buNone/>
            </a:pPr>
            <a:r>
              <a:rPr lang="en-IN" sz="1500"/>
              <a:t>    if depth == 0 or node is a terminal state:</a:t>
            </a:r>
          </a:p>
          <a:p>
            <a:pPr marL="0" indent="0">
              <a:buNone/>
            </a:pPr>
            <a:r>
              <a:rPr lang="en-IN" sz="1500"/>
              <a:t>        return evaluate(node)</a:t>
            </a:r>
          </a:p>
          <a:p>
            <a:pPr marL="0" indent="0">
              <a:buNone/>
            </a:pPr>
            <a:endParaRPr lang="en-IN" sz="1500"/>
          </a:p>
          <a:p>
            <a:pPr marL="0" indent="0">
              <a:buNone/>
            </a:pPr>
            <a:r>
              <a:rPr lang="en-IN" sz="1500"/>
              <a:t>    if </a:t>
            </a:r>
            <a:r>
              <a:rPr lang="en-IN" sz="1500" err="1"/>
              <a:t>isMaximizingPlayer</a:t>
            </a:r>
            <a:r>
              <a:rPr lang="en-IN" sz="1500"/>
              <a:t>:</a:t>
            </a:r>
          </a:p>
          <a:p>
            <a:pPr marL="0" indent="0">
              <a:buNone/>
            </a:pPr>
            <a:r>
              <a:rPr lang="en-IN" sz="1500"/>
              <a:t>        </a:t>
            </a:r>
            <a:r>
              <a:rPr lang="en-IN" sz="1500" err="1"/>
              <a:t>maxEval</a:t>
            </a:r>
            <a:r>
              <a:rPr lang="en-IN" sz="1500"/>
              <a:t> = -infinity</a:t>
            </a:r>
          </a:p>
          <a:p>
            <a:pPr marL="0" indent="0">
              <a:buNone/>
            </a:pPr>
            <a:r>
              <a:rPr lang="en-IN" sz="1500"/>
              <a:t>        for each child in </a:t>
            </a:r>
            <a:r>
              <a:rPr lang="en-IN" sz="1500" err="1"/>
              <a:t>node.children</a:t>
            </a:r>
            <a:r>
              <a:rPr lang="en-IN" sz="1500"/>
              <a:t>:</a:t>
            </a:r>
          </a:p>
          <a:p>
            <a:pPr marL="0" indent="0">
              <a:buNone/>
            </a:pPr>
            <a:r>
              <a:rPr lang="en-IN" sz="1500"/>
              <a:t>            eval = minimax(child, depth - 1, false)</a:t>
            </a:r>
          </a:p>
          <a:p>
            <a:pPr marL="0" indent="0">
              <a:buNone/>
            </a:pPr>
            <a:r>
              <a:rPr lang="en-IN" sz="1500"/>
              <a:t>            </a:t>
            </a:r>
            <a:r>
              <a:rPr lang="en-IN" sz="1500" err="1"/>
              <a:t>maxEval</a:t>
            </a:r>
            <a:r>
              <a:rPr lang="en-IN" sz="1500"/>
              <a:t> = max(</a:t>
            </a:r>
            <a:r>
              <a:rPr lang="en-IN" sz="1500" err="1"/>
              <a:t>maxEval</a:t>
            </a:r>
            <a:r>
              <a:rPr lang="en-IN" sz="1500"/>
              <a:t>, eval)</a:t>
            </a:r>
          </a:p>
          <a:p>
            <a:pPr marL="0" indent="0">
              <a:buNone/>
            </a:pPr>
            <a:r>
              <a:rPr lang="en-IN" sz="1500"/>
              <a:t>        return </a:t>
            </a:r>
            <a:r>
              <a:rPr lang="en-IN" sz="1500" err="1"/>
              <a:t>maxEval</a:t>
            </a:r>
            <a:endParaRPr lang="en-IN" sz="1500"/>
          </a:p>
          <a:p>
            <a:pPr marL="0" indent="0">
              <a:buNone/>
            </a:pPr>
            <a:r>
              <a:rPr lang="en-IN" sz="1500"/>
              <a:t>    else:</a:t>
            </a:r>
          </a:p>
          <a:p>
            <a:pPr marL="0" indent="0">
              <a:buNone/>
            </a:pPr>
            <a:r>
              <a:rPr lang="en-IN" sz="1500"/>
              <a:t>        </a:t>
            </a:r>
            <a:r>
              <a:rPr lang="en-IN" sz="1500" err="1"/>
              <a:t>minEval</a:t>
            </a:r>
            <a:r>
              <a:rPr lang="en-IN" sz="1500"/>
              <a:t> = +infinity</a:t>
            </a:r>
          </a:p>
          <a:p>
            <a:pPr marL="0" indent="0">
              <a:buNone/>
            </a:pPr>
            <a:r>
              <a:rPr lang="en-IN" sz="1500"/>
              <a:t>        for each child in </a:t>
            </a:r>
            <a:r>
              <a:rPr lang="en-IN" sz="1500" err="1"/>
              <a:t>node.children</a:t>
            </a:r>
            <a:r>
              <a:rPr lang="en-IN" sz="1500"/>
              <a:t>:</a:t>
            </a:r>
          </a:p>
          <a:p>
            <a:pPr marL="0" indent="0">
              <a:buNone/>
            </a:pPr>
            <a:r>
              <a:rPr lang="en-IN" sz="1500"/>
              <a:t>            eval = minimax(child, depth - 1, true)</a:t>
            </a:r>
          </a:p>
          <a:p>
            <a:pPr marL="0" indent="0">
              <a:buNone/>
            </a:pPr>
            <a:r>
              <a:rPr lang="en-IN" sz="1500"/>
              <a:t>            </a:t>
            </a:r>
            <a:r>
              <a:rPr lang="en-IN" sz="1500" err="1"/>
              <a:t>minEval</a:t>
            </a:r>
            <a:r>
              <a:rPr lang="en-IN" sz="1500"/>
              <a:t> = min(</a:t>
            </a:r>
            <a:r>
              <a:rPr lang="en-IN" sz="1500" err="1"/>
              <a:t>minEval</a:t>
            </a:r>
            <a:r>
              <a:rPr lang="en-IN" sz="1500"/>
              <a:t>, eval)</a:t>
            </a:r>
          </a:p>
          <a:p>
            <a:pPr marL="0" indent="0">
              <a:buNone/>
            </a:pPr>
            <a:r>
              <a:rPr lang="en-IN" sz="1500"/>
              <a:t>        return </a:t>
            </a:r>
            <a:r>
              <a:rPr lang="en-IN" sz="1500" err="1"/>
              <a:t>minEval</a:t>
            </a:r>
            <a:endParaRPr lang="en-IN" sz="1500"/>
          </a:p>
          <a:p>
            <a:pPr marL="0" indent="0">
              <a:buNone/>
            </a:pPr>
            <a:endParaRPr lang="en-IN" sz="1500"/>
          </a:p>
        </p:txBody>
      </p:sp>
    </p:spTree>
    <p:extLst>
      <p:ext uri="{BB962C8B-B14F-4D97-AF65-F5344CB8AC3E}">
        <p14:creationId xmlns:p14="http://schemas.microsoft.com/office/powerpoint/2010/main" val="4071276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983716AF-28F0-6655-FBEB-5135377451BA}"/>
              </a:ext>
            </a:extLst>
          </p:cNvPr>
          <p:cNvSpPr/>
          <p:nvPr/>
        </p:nvSpPr>
        <p:spPr>
          <a:xfrm>
            <a:off x="4536357" y="614515"/>
            <a:ext cx="639097" cy="6390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2</a:t>
            </a:r>
          </a:p>
        </p:txBody>
      </p:sp>
      <p:sp>
        <p:nvSpPr>
          <p:cNvPr id="6" name="Oval 5">
            <a:extLst>
              <a:ext uri="{FF2B5EF4-FFF2-40B4-BE49-F238E27FC236}">
                <a16:creationId xmlns:a16="http://schemas.microsoft.com/office/drawing/2014/main" id="{3A097544-6A1F-7807-9BC4-A09CEB20BF41}"/>
              </a:ext>
            </a:extLst>
          </p:cNvPr>
          <p:cNvSpPr/>
          <p:nvPr/>
        </p:nvSpPr>
        <p:spPr>
          <a:xfrm>
            <a:off x="2772698" y="2025445"/>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-1</a:t>
            </a:r>
          </a:p>
        </p:txBody>
      </p:sp>
      <p:sp>
        <p:nvSpPr>
          <p:cNvPr id="7" name="Oval 6">
            <a:extLst>
              <a:ext uri="{FF2B5EF4-FFF2-40B4-BE49-F238E27FC236}">
                <a16:creationId xmlns:a16="http://schemas.microsoft.com/office/drawing/2014/main" id="{F2B39D1B-BDB8-750C-E56D-7929C5CC8D56}"/>
              </a:ext>
            </a:extLst>
          </p:cNvPr>
          <p:cNvSpPr/>
          <p:nvPr/>
        </p:nvSpPr>
        <p:spPr>
          <a:xfrm>
            <a:off x="6248400" y="2025445"/>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2</a:t>
            </a:r>
          </a:p>
        </p:txBody>
      </p:sp>
      <p:sp>
        <p:nvSpPr>
          <p:cNvPr id="8" name="Oval 7">
            <a:extLst>
              <a:ext uri="{FF2B5EF4-FFF2-40B4-BE49-F238E27FC236}">
                <a16:creationId xmlns:a16="http://schemas.microsoft.com/office/drawing/2014/main" id="{6121CCE6-7002-42DF-17A7-2D0AAE9B9C6D}"/>
              </a:ext>
            </a:extLst>
          </p:cNvPr>
          <p:cNvSpPr/>
          <p:nvPr/>
        </p:nvSpPr>
        <p:spPr>
          <a:xfrm>
            <a:off x="1907458" y="3428999"/>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4</a:t>
            </a:r>
          </a:p>
        </p:txBody>
      </p:sp>
      <p:sp>
        <p:nvSpPr>
          <p:cNvPr id="9" name="Oval 8">
            <a:extLst>
              <a:ext uri="{FF2B5EF4-FFF2-40B4-BE49-F238E27FC236}">
                <a16:creationId xmlns:a16="http://schemas.microsoft.com/office/drawing/2014/main" id="{E56682C1-6881-9E9E-7589-F0EDB5ECC4C6}"/>
              </a:ext>
            </a:extLst>
          </p:cNvPr>
          <p:cNvSpPr/>
          <p:nvPr/>
        </p:nvSpPr>
        <p:spPr>
          <a:xfrm>
            <a:off x="3658057" y="3428998"/>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-1</a:t>
            </a:r>
          </a:p>
        </p:txBody>
      </p:sp>
      <p:sp>
        <p:nvSpPr>
          <p:cNvPr id="10" name="Oval 9">
            <a:extLst>
              <a:ext uri="{FF2B5EF4-FFF2-40B4-BE49-F238E27FC236}">
                <a16:creationId xmlns:a16="http://schemas.microsoft.com/office/drawing/2014/main" id="{F7B85A0A-3DB5-9785-2B42-EBFBAA964480}"/>
              </a:ext>
            </a:extLst>
          </p:cNvPr>
          <p:cNvSpPr/>
          <p:nvPr/>
        </p:nvSpPr>
        <p:spPr>
          <a:xfrm>
            <a:off x="5403702" y="3428999"/>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6</a:t>
            </a:r>
          </a:p>
        </p:txBody>
      </p:sp>
      <p:sp>
        <p:nvSpPr>
          <p:cNvPr id="11" name="Oval 10">
            <a:extLst>
              <a:ext uri="{FF2B5EF4-FFF2-40B4-BE49-F238E27FC236}">
                <a16:creationId xmlns:a16="http://schemas.microsoft.com/office/drawing/2014/main" id="{A7CDEB40-E26A-143C-43B0-940FA6EE9198}"/>
              </a:ext>
            </a:extLst>
          </p:cNvPr>
          <p:cNvSpPr/>
          <p:nvPr/>
        </p:nvSpPr>
        <p:spPr>
          <a:xfrm>
            <a:off x="7304508" y="3428999"/>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2</a:t>
            </a:r>
          </a:p>
        </p:txBody>
      </p:sp>
      <p:sp>
        <p:nvSpPr>
          <p:cNvPr id="12" name="Oval 11">
            <a:extLst>
              <a:ext uri="{FF2B5EF4-FFF2-40B4-BE49-F238E27FC236}">
                <a16:creationId xmlns:a16="http://schemas.microsoft.com/office/drawing/2014/main" id="{E7E0FAB0-4A0B-0AEA-318F-1C855D91F12E}"/>
              </a:ext>
            </a:extLst>
          </p:cNvPr>
          <p:cNvSpPr/>
          <p:nvPr/>
        </p:nvSpPr>
        <p:spPr>
          <a:xfrm>
            <a:off x="1444841" y="4729316"/>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-3</a:t>
            </a:r>
          </a:p>
        </p:txBody>
      </p:sp>
      <p:sp>
        <p:nvSpPr>
          <p:cNvPr id="13" name="Oval 12">
            <a:extLst>
              <a:ext uri="{FF2B5EF4-FFF2-40B4-BE49-F238E27FC236}">
                <a16:creationId xmlns:a16="http://schemas.microsoft.com/office/drawing/2014/main" id="{BC5D0335-277B-36B0-D881-6E03267CF69D}"/>
              </a:ext>
            </a:extLst>
          </p:cNvPr>
          <p:cNvSpPr/>
          <p:nvPr/>
        </p:nvSpPr>
        <p:spPr>
          <a:xfrm>
            <a:off x="2300247" y="4729316"/>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4</a:t>
            </a:r>
          </a:p>
        </p:txBody>
      </p:sp>
      <p:sp>
        <p:nvSpPr>
          <p:cNvPr id="14" name="Oval 13">
            <a:extLst>
              <a:ext uri="{FF2B5EF4-FFF2-40B4-BE49-F238E27FC236}">
                <a16:creationId xmlns:a16="http://schemas.microsoft.com/office/drawing/2014/main" id="{F37497F6-5EA0-68CF-B382-62A4F51E5039}"/>
              </a:ext>
            </a:extLst>
          </p:cNvPr>
          <p:cNvSpPr/>
          <p:nvPr/>
        </p:nvSpPr>
        <p:spPr>
          <a:xfrm>
            <a:off x="3191422" y="4729315"/>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-2</a:t>
            </a:r>
          </a:p>
        </p:txBody>
      </p:sp>
      <p:sp>
        <p:nvSpPr>
          <p:cNvPr id="15" name="Oval 14">
            <a:extLst>
              <a:ext uri="{FF2B5EF4-FFF2-40B4-BE49-F238E27FC236}">
                <a16:creationId xmlns:a16="http://schemas.microsoft.com/office/drawing/2014/main" id="{FBD4F43A-261A-4F38-CA1A-1551D3AE312A}"/>
              </a:ext>
            </a:extLst>
          </p:cNvPr>
          <p:cNvSpPr/>
          <p:nvPr/>
        </p:nvSpPr>
        <p:spPr>
          <a:xfrm>
            <a:off x="4109167" y="4729314"/>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-1</a:t>
            </a:r>
          </a:p>
        </p:txBody>
      </p:sp>
      <p:sp>
        <p:nvSpPr>
          <p:cNvPr id="16" name="Oval 15">
            <a:extLst>
              <a:ext uri="{FF2B5EF4-FFF2-40B4-BE49-F238E27FC236}">
                <a16:creationId xmlns:a16="http://schemas.microsoft.com/office/drawing/2014/main" id="{72171F73-EC2F-985C-0806-F587CC44C89D}"/>
              </a:ext>
            </a:extLst>
          </p:cNvPr>
          <p:cNvSpPr/>
          <p:nvPr/>
        </p:nvSpPr>
        <p:spPr>
          <a:xfrm>
            <a:off x="4924347" y="4729314"/>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4</a:t>
            </a:r>
          </a:p>
        </p:txBody>
      </p:sp>
      <p:sp>
        <p:nvSpPr>
          <p:cNvPr id="17" name="Oval 16">
            <a:extLst>
              <a:ext uri="{FF2B5EF4-FFF2-40B4-BE49-F238E27FC236}">
                <a16:creationId xmlns:a16="http://schemas.microsoft.com/office/drawing/2014/main" id="{A32797A9-844D-99B8-8A78-29B8E883EC5A}"/>
              </a:ext>
            </a:extLst>
          </p:cNvPr>
          <p:cNvSpPr/>
          <p:nvPr/>
        </p:nvSpPr>
        <p:spPr>
          <a:xfrm>
            <a:off x="5867726" y="4749039"/>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6</a:t>
            </a:r>
          </a:p>
        </p:txBody>
      </p:sp>
      <p:sp>
        <p:nvSpPr>
          <p:cNvPr id="18" name="Oval 17">
            <a:extLst>
              <a:ext uri="{FF2B5EF4-FFF2-40B4-BE49-F238E27FC236}">
                <a16:creationId xmlns:a16="http://schemas.microsoft.com/office/drawing/2014/main" id="{E55AA00B-0E8A-6B25-7F9C-FF2A4A2987B2}"/>
              </a:ext>
            </a:extLst>
          </p:cNvPr>
          <p:cNvSpPr/>
          <p:nvPr/>
        </p:nvSpPr>
        <p:spPr>
          <a:xfrm>
            <a:off x="6864619" y="4729311"/>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-4</a:t>
            </a:r>
          </a:p>
        </p:txBody>
      </p:sp>
      <p:sp>
        <p:nvSpPr>
          <p:cNvPr id="19" name="Oval 18">
            <a:extLst>
              <a:ext uri="{FF2B5EF4-FFF2-40B4-BE49-F238E27FC236}">
                <a16:creationId xmlns:a16="http://schemas.microsoft.com/office/drawing/2014/main" id="{C49837D2-6B50-CAC1-3250-43462C6DFD00}"/>
              </a:ext>
            </a:extLst>
          </p:cNvPr>
          <p:cNvSpPr/>
          <p:nvPr/>
        </p:nvSpPr>
        <p:spPr>
          <a:xfrm>
            <a:off x="7796803" y="4749039"/>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2</a:t>
            </a:r>
          </a:p>
        </p:txBody>
      </p:sp>
      <p:cxnSp>
        <p:nvCxnSpPr>
          <p:cNvPr id="21" name="Straight Connector 20">
            <a:extLst>
              <a:ext uri="{FF2B5EF4-FFF2-40B4-BE49-F238E27FC236}">
                <a16:creationId xmlns:a16="http://schemas.microsoft.com/office/drawing/2014/main" id="{EDD5EAF2-C5E4-083B-4681-E6BE993801DA}"/>
              </a:ext>
            </a:extLst>
          </p:cNvPr>
          <p:cNvCxnSpPr>
            <a:cxnSpLocks/>
            <a:stCxn id="6" idx="7"/>
            <a:endCxn id="4" idx="2"/>
          </p:cNvCxnSpPr>
          <p:nvPr/>
        </p:nvCxnSpPr>
        <p:spPr>
          <a:xfrm flipV="1">
            <a:off x="3259455" y="934064"/>
            <a:ext cx="1276902" cy="1174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B3808DC-A301-16B7-9C36-94845074367B}"/>
              </a:ext>
            </a:extLst>
          </p:cNvPr>
          <p:cNvCxnSpPr>
            <a:cxnSpLocks/>
            <a:stCxn id="4" idx="6"/>
            <a:endCxn id="7" idx="1"/>
          </p:cNvCxnSpPr>
          <p:nvPr/>
        </p:nvCxnSpPr>
        <p:spPr>
          <a:xfrm>
            <a:off x="5175454" y="934064"/>
            <a:ext cx="1156460" cy="1174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DC45DA8-7EBA-5250-54AC-A972386B63AE}"/>
              </a:ext>
            </a:extLst>
          </p:cNvPr>
          <p:cNvCxnSpPr>
            <a:stCxn id="8" idx="0"/>
            <a:endCxn id="6" idx="3"/>
          </p:cNvCxnSpPr>
          <p:nvPr/>
        </p:nvCxnSpPr>
        <p:spPr>
          <a:xfrm flipV="1">
            <a:off x="2192594" y="2512202"/>
            <a:ext cx="663618" cy="916797"/>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5F35FD5-2371-8B7A-8998-4DB48839F41B}"/>
              </a:ext>
            </a:extLst>
          </p:cNvPr>
          <p:cNvCxnSpPr>
            <a:cxnSpLocks/>
            <a:stCxn id="6" idx="5"/>
            <a:endCxn id="9" idx="0"/>
          </p:cNvCxnSpPr>
          <p:nvPr/>
        </p:nvCxnSpPr>
        <p:spPr>
          <a:xfrm>
            <a:off x="3259455" y="2512202"/>
            <a:ext cx="683738" cy="916796"/>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73B9E71-193D-0270-5A98-B4C9B2811C7B}"/>
              </a:ext>
            </a:extLst>
          </p:cNvPr>
          <p:cNvCxnSpPr>
            <a:cxnSpLocks/>
            <a:endCxn id="7" idx="3"/>
          </p:cNvCxnSpPr>
          <p:nvPr/>
        </p:nvCxnSpPr>
        <p:spPr>
          <a:xfrm flipV="1">
            <a:off x="5719643" y="2512202"/>
            <a:ext cx="612271" cy="91679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4C2053B9-A92B-ED43-04D5-6ACF2897A173}"/>
              </a:ext>
            </a:extLst>
          </p:cNvPr>
          <p:cNvCxnSpPr>
            <a:cxnSpLocks/>
            <a:stCxn id="7" idx="5"/>
            <a:endCxn id="11" idx="0"/>
          </p:cNvCxnSpPr>
          <p:nvPr/>
        </p:nvCxnSpPr>
        <p:spPr>
          <a:xfrm>
            <a:off x="6735157" y="2512202"/>
            <a:ext cx="854487" cy="916797"/>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FC85CB32-94FC-963A-79E7-FC9D25C00362}"/>
              </a:ext>
            </a:extLst>
          </p:cNvPr>
          <p:cNvCxnSpPr>
            <a:cxnSpLocks/>
            <a:stCxn id="8" idx="3"/>
            <a:endCxn id="12" idx="0"/>
          </p:cNvCxnSpPr>
          <p:nvPr/>
        </p:nvCxnSpPr>
        <p:spPr>
          <a:xfrm flipH="1">
            <a:off x="1729977" y="3915756"/>
            <a:ext cx="260995" cy="81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B1AF844-E5CC-4341-BF5D-177232C296B6}"/>
              </a:ext>
            </a:extLst>
          </p:cNvPr>
          <p:cNvCxnSpPr>
            <a:cxnSpLocks/>
            <a:stCxn id="8" idx="5"/>
            <a:endCxn id="13" idx="0"/>
          </p:cNvCxnSpPr>
          <p:nvPr/>
        </p:nvCxnSpPr>
        <p:spPr>
          <a:xfrm>
            <a:off x="2394215" y="3915756"/>
            <a:ext cx="191168" cy="81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6CF41AB-1F08-8B54-B958-6CC5267053DD}"/>
              </a:ext>
            </a:extLst>
          </p:cNvPr>
          <p:cNvCxnSpPr>
            <a:cxnSpLocks/>
            <a:stCxn id="9" idx="3"/>
            <a:endCxn id="14" idx="0"/>
          </p:cNvCxnSpPr>
          <p:nvPr/>
        </p:nvCxnSpPr>
        <p:spPr>
          <a:xfrm flipH="1">
            <a:off x="3476558" y="3915755"/>
            <a:ext cx="265013" cy="81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D0376CC-59B4-F988-53BA-F5CC823FAEC0}"/>
              </a:ext>
            </a:extLst>
          </p:cNvPr>
          <p:cNvCxnSpPr>
            <a:cxnSpLocks/>
            <a:stCxn id="9" idx="5"/>
            <a:endCxn id="15" idx="0"/>
          </p:cNvCxnSpPr>
          <p:nvPr/>
        </p:nvCxnSpPr>
        <p:spPr>
          <a:xfrm>
            <a:off x="4144814" y="3915755"/>
            <a:ext cx="249489" cy="813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A00C130-7051-7E8B-715E-502B38769B0E}"/>
              </a:ext>
            </a:extLst>
          </p:cNvPr>
          <p:cNvCxnSpPr>
            <a:cxnSpLocks/>
            <a:stCxn id="16" idx="0"/>
            <a:endCxn id="10" idx="3"/>
          </p:cNvCxnSpPr>
          <p:nvPr/>
        </p:nvCxnSpPr>
        <p:spPr>
          <a:xfrm flipV="1">
            <a:off x="5209483" y="3915756"/>
            <a:ext cx="277733" cy="813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9D60969-8805-EF85-27DD-01BCA6C46C65}"/>
              </a:ext>
            </a:extLst>
          </p:cNvPr>
          <p:cNvCxnSpPr>
            <a:cxnSpLocks/>
            <a:stCxn id="10" idx="5"/>
            <a:endCxn id="17" idx="0"/>
          </p:cNvCxnSpPr>
          <p:nvPr/>
        </p:nvCxnSpPr>
        <p:spPr>
          <a:xfrm>
            <a:off x="5890459" y="3915756"/>
            <a:ext cx="262403" cy="83328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9FA5173-B52F-EA3E-BA77-11BA258D3735}"/>
              </a:ext>
            </a:extLst>
          </p:cNvPr>
          <p:cNvCxnSpPr>
            <a:stCxn id="18" idx="0"/>
            <a:endCxn id="11" idx="3"/>
          </p:cNvCxnSpPr>
          <p:nvPr/>
        </p:nvCxnSpPr>
        <p:spPr>
          <a:xfrm flipV="1">
            <a:off x="7149755" y="3915756"/>
            <a:ext cx="238267" cy="813555"/>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BE9BC64-3B18-C31D-4B48-4C43ED11D07B}"/>
              </a:ext>
            </a:extLst>
          </p:cNvPr>
          <p:cNvCxnSpPr>
            <a:stCxn id="19" idx="0"/>
            <a:endCxn id="11" idx="5"/>
          </p:cNvCxnSpPr>
          <p:nvPr/>
        </p:nvCxnSpPr>
        <p:spPr>
          <a:xfrm flipH="1" flipV="1">
            <a:off x="7791265" y="3915756"/>
            <a:ext cx="290674" cy="833283"/>
          </a:xfrm>
          <a:prstGeom prst="line">
            <a:avLst/>
          </a:prstGeom>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FB72882C-BBA6-F516-2088-AF7D05CAE7F6}"/>
              </a:ext>
            </a:extLst>
          </p:cNvPr>
          <p:cNvSpPr txBox="1"/>
          <p:nvPr/>
        </p:nvSpPr>
        <p:spPr>
          <a:xfrm>
            <a:off x="215859" y="816137"/>
            <a:ext cx="1276902" cy="369332"/>
          </a:xfrm>
          <a:prstGeom prst="rect">
            <a:avLst/>
          </a:prstGeom>
          <a:noFill/>
        </p:spPr>
        <p:txBody>
          <a:bodyPr wrap="square" rtlCol="0">
            <a:spAutoFit/>
          </a:bodyPr>
          <a:lstStyle/>
          <a:p>
            <a:r>
              <a:rPr lang="en-IN" b="1" dirty="0"/>
              <a:t>Depth 0</a:t>
            </a:r>
          </a:p>
        </p:txBody>
      </p:sp>
      <p:sp>
        <p:nvSpPr>
          <p:cNvPr id="96" name="TextBox 95">
            <a:extLst>
              <a:ext uri="{FF2B5EF4-FFF2-40B4-BE49-F238E27FC236}">
                <a16:creationId xmlns:a16="http://schemas.microsoft.com/office/drawing/2014/main" id="{2F7BE74B-EF6B-CDF2-9BF3-A7BC5823E8AD}"/>
              </a:ext>
            </a:extLst>
          </p:cNvPr>
          <p:cNvSpPr txBox="1"/>
          <p:nvPr/>
        </p:nvSpPr>
        <p:spPr>
          <a:xfrm>
            <a:off x="215859" y="2080469"/>
            <a:ext cx="943441" cy="369332"/>
          </a:xfrm>
          <a:prstGeom prst="rect">
            <a:avLst/>
          </a:prstGeom>
          <a:noFill/>
        </p:spPr>
        <p:txBody>
          <a:bodyPr wrap="square" rtlCol="0">
            <a:spAutoFit/>
          </a:bodyPr>
          <a:lstStyle/>
          <a:p>
            <a:r>
              <a:rPr lang="en-IN" b="1" dirty="0"/>
              <a:t>Depth 1</a:t>
            </a:r>
          </a:p>
        </p:txBody>
      </p:sp>
      <p:sp>
        <p:nvSpPr>
          <p:cNvPr id="97" name="TextBox 96">
            <a:extLst>
              <a:ext uri="{FF2B5EF4-FFF2-40B4-BE49-F238E27FC236}">
                <a16:creationId xmlns:a16="http://schemas.microsoft.com/office/drawing/2014/main" id="{A721118B-BF6B-4E9E-641A-C0CC4C6F7B6F}"/>
              </a:ext>
            </a:extLst>
          </p:cNvPr>
          <p:cNvSpPr txBox="1"/>
          <p:nvPr/>
        </p:nvSpPr>
        <p:spPr>
          <a:xfrm>
            <a:off x="215859" y="3529467"/>
            <a:ext cx="1067720" cy="369332"/>
          </a:xfrm>
          <a:prstGeom prst="rect">
            <a:avLst/>
          </a:prstGeom>
          <a:noFill/>
        </p:spPr>
        <p:txBody>
          <a:bodyPr wrap="square" rtlCol="0">
            <a:spAutoFit/>
          </a:bodyPr>
          <a:lstStyle/>
          <a:p>
            <a:r>
              <a:rPr lang="en-IN" b="1" dirty="0"/>
              <a:t>Depth 2</a:t>
            </a:r>
          </a:p>
        </p:txBody>
      </p:sp>
      <p:sp>
        <p:nvSpPr>
          <p:cNvPr id="98" name="TextBox 97">
            <a:extLst>
              <a:ext uri="{FF2B5EF4-FFF2-40B4-BE49-F238E27FC236}">
                <a16:creationId xmlns:a16="http://schemas.microsoft.com/office/drawing/2014/main" id="{5DE042FD-45AA-0FAF-7F11-C19817923451}"/>
              </a:ext>
            </a:extLst>
          </p:cNvPr>
          <p:cNvSpPr txBox="1"/>
          <p:nvPr/>
        </p:nvSpPr>
        <p:spPr>
          <a:xfrm>
            <a:off x="215859" y="4885735"/>
            <a:ext cx="1015671" cy="369332"/>
          </a:xfrm>
          <a:prstGeom prst="rect">
            <a:avLst/>
          </a:prstGeom>
          <a:noFill/>
        </p:spPr>
        <p:txBody>
          <a:bodyPr wrap="square" rtlCol="0">
            <a:spAutoFit/>
          </a:bodyPr>
          <a:lstStyle/>
          <a:p>
            <a:r>
              <a:rPr lang="en-IN" b="1" dirty="0"/>
              <a:t>Depth 3</a:t>
            </a:r>
          </a:p>
        </p:txBody>
      </p:sp>
      <p:sp>
        <p:nvSpPr>
          <p:cNvPr id="99" name="TextBox 98">
            <a:extLst>
              <a:ext uri="{FF2B5EF4-FFF2-40B4-BE49-F238E27FC236}">
                <a16:creationId xmlns:a16="http://schemas.microsoft.com/office/drawing/2014/main" id="{23946C73-D0B6-0CCF-C544-6E9E48105960}"/>
              </a:ext>
            </a:extLst>
          </p:cNvPr>
          <p:cNvSpPr txBox="1"/>
          <p:nvPr/>
        </p:nvSpPr>
        <p:spPr>
          <a:xfrm>
            <a:off x="3376833" y="5882310"/>
            <a:ext cx="3095028" cy="461665"/>
          </a:xfrm>
          <a:prstGeom prst="rect">
            <a:avLst/>
          </a:prstGeom>
          <a:noFill/>
        </p:spPr>
        <p:txBody>
          <a:bodyPr wrap="square" rtlCol="0">
            <a:spAutoFit/>
          </a:bodyPr>
          <a:lstStyle/>
          <a:p>
            <a:r>
              <a:rPr lang="en-IN" sz="2400" b="1" dirty="0"/>
              <a:t>MINMAX ALGORITHM</a:t>
            </a:r>
          </a:p>
        </p:txBody>
      </p:sp>
    </p:spTree>
    <p:extLst>
      <p:ext uri="{BB962C8B-B14F-4D97-AF65-F5344CB8AC3E}">
        <p14:creationId xmlns:p14="http://schemas.microsoft.com/office/powerpoint/2010/main" val="286428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23364B-49C2-594F-CD03-78D67A5AE1A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E5275E-262E-3E4D-8227-3D9C78621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FAF580-0F62-1637-ED40-83ECC3BFB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17221A8-530A-58F9-D291-997919C3CDE4}"/>
              </a:ext>
            </a:extLst>
          </p:cNvPr>
          <p:cNvSpPr>
            <a:spLocks noGrp="1"/>
          </p:cNvSpPr>
          <p:nvPr>
            <p:ph type="title"/>
          </p:nvPr>
        </p:nvSpPr>
        <p:spPr>
          <a:xfrm>
            <a:off x="628650" y="365125"/>
            <a:ext cx="7886700" cy="1325563"/>
          </a:xfrm>
        </p:spPr>
        <p:txBody>
          <a:bodyPr>
            <a:normAutofit/>
          </a:bodyPr>
          <a:lstStyle/>
          <a:p>
            <a:r>
              <a:rPr lang="en-US" dirty="0"/>
              <a:t>	 ALPHA BETA PRUNING</a:t>
            </a:r>
            <a:endParaRPr lang="en-IN" dirty="0"/>
          </a:p>
        </p:txBody>
      </p:sp>
      <p:sp>
        <p:nvSpPr>
          <p:cNvPr id="12" name="Arc 11">
            <a:extLst>
              <a:ext uri="{FF2B5EF4-FFF2-40B4-BE49-F238E27FC236}">
                <a16:creationId xmlns:a16="http://schemas.microsoft.com/office/drawing/2014/main" id="{B22EDA7D-B8DF-CEFD-2F5A-0E5535B92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DD77C3A-84A9-5EB6-8825-116FB4E97B50}"/>
              </a:ext>
            </a:extLst>
          </p:cNvPr>
          <p:cNvSpPr>
            <a:spLocks noGrp="1"/>
          </p:cNvSpPr>
          <p:nvPr>
            <p:ph idx="1"/>
          </p:nvPr>
        </p:nvSpPr>
        <p:spPr>
          <a:xfrm>
            <a:off x="628650" y="1825625"/>
            <a:ext cx="7886700" cy="4351338"/>
          </a:xfrm>
        </p:spPr>
        <p:txBody>
          <a:bodyPr>
            <a:normAutofit/>
          </a:bodyPr>
          <a:lstStyle/>
          <a:p>
            <a:pPr>
              <a:buNone/>
            </a:pPr>
            <a:r>
              <a:rPr lang="en-US" sz="2400" b="1" dirty="0"/>
              <a:t>Alpha-Beta Pruning</a:t>
            </a:r>
            <a:r>
              <a:rPr lang="en-US" sz="2400" dirty="0"/>
              <a:t> is an enhancement to the </a:t>
            </a:r>
            <a:r>
              <a:rPr lang="en-US" sz="2400" b="1" dirty="0"/>
              <a:t>Minimax algorithm</a:t>
            </a:r>
            <a:r>
              <a:rPr lang="en-US" sz="2400" dirty="0"/>
              <a:t> that reduces the number of nodes evaluated in the game tree.</a:t>
            </a:r>
          </a:p>
          <a:p>
            <a:r>
              <a:rPr lang="en-US" sz="2400" dirty="0"/>
              <a:t>It </a:t>
            </a:r>
            <a:r>
              <a:rPr lang="en-US" sz="2400" b="1" dirty="0"/>
              <a:t>prunes (cuts off)</a:t>
            </a:r>
            <a:r>
              <a:rPr lang="en-US" sz="2400" dirty="0"/>
              <a:t> branches that cannot possibly affect the final decision, improving efficiency without changing the outcome.</a:t>
            </a:r>
          </a:p>
          <a:p>
            <a:pPr>
              <a:buFont typeface="Arial" panose="020B0604020202020204" pitchFamily="34" charset="0"/>
              <a:buChar char="•"/>
            </a:pPr>
            <a:r>
              <a:rPr lang="en-US" sz="2400" b="1" dirty="0"/>
              <a:t>Alpha (α):</a:t>
            </a:r>
            <a:r>
              <a:rPr lang="en-US" sz="2400" dirty="0"/>
              <a:t> Best value the </a:t>
            </a:r>
            <a:r>
              <a:rPr lang="en-US" sz="2400" b="1" dirty="0"/>
              <a:t>maximizer</a:t>
            </a:r>
            <a:r>
              <a:rPr lang="en-US" sz="2400" dirty="0"/>
              <a:t> can guarantee so far.</a:t>
            </a:r>
          </a:p>
          <a:p>
            <a:pPr>
              <a:buFont typeface="Arial" panose="020B0604020202020204" pitchFamily="34" charset="0"/>
              <a:buChar char="•"/>
            </a:pPr>
            <a:r>
              <a:rPr lang="en-US" sz="2400" b="1" dirty="0"/>
              <a:t>Beta (β):</a:t>
            </a:r>
            <a:r>
              <a:rPr lang="en-US" sz="2400" dirty="0"/>
              <a:t> Best value the </a:t>
            </a:r>
            <a:r>
              <a:rPr lang="en-US" sz="2400" b="1" dirty="0"/>
              <a:t>minimizer</a:t>
            </a:r>
            <a:r>
              <a:rPr lang="en-US" sz="2400" dirty="0"/>
              <a:t> can guarantee so far.</a:t>
            </a:r>
          </a:p>
          <a:p>
            <a:pPr>
              <a:buFont typeface="Arial" panose="020B0604020202020204" pitchFamily="34" charset="0"/>
              <a:buChar char="•"/>
            </a:pPr>
            <a:r>
              <a:rPr lang="en-US" sz="2400" dirty="0"/>
              <a:t>If </a:t>
            </a:r>
            <a:r>
              <a:rPr lang="en-US" sz="2400" b="1" dirty="0"/>
              <a:t>β ≤ α</a:t>
            </a:r>
            <a:r>
              <a:rPr lang="en-US" sz="2400" dirty="0"/>
              <a:t>, further evaluation of that node is </a:t>
            </a:r>
            <a:r>
              <a:rPr lang="en-US" sz="2400" b="1" dirty="0"/>
              <a:t>stopped</a:t>
            </a:r>
            <a:r>
              <a:rPr lang="en-US" sz="2400" dirty="0"/>
              <a:t> (pruned).</a:t>
            </a:r>
          </a:p>
          <a:p>
            <a:pPr marL="0" indent="0">
              <a:buNone/>
            </a:pPr>
            <a:endParaRPr lang="en-IN" sz="2200" dirty="0"/>
          </a:p>
        </p:txBody>
      </p:sp>
    </p:spTree>
    <p:extLst>
      <p:ext uri="{BB962C8B-B14F-4D97-AF65-F5344CB8AC3E}">
        <p14:creationId xmlns:p14="http://schemas.microsoft.com/office/powerpoint/2010/main" val="1229529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2BB66-B6AC-4C68-4198-3C7F18C27FC2}"/>
              </a:ext>
            </a:extLst>
          </p:cNvPr>
          <p:cNvSpPr>
            <a:spLocks noGrp="1"/>
          </p:cNvSpPr>
          <p:nvPr>
            <p:ph type="title"/>
          </p:nvPr>
        </p:nvSpPr>
        <p:spPr/>
        <p:txBody>
          <a:bodyPr/>
          <a:lstStyle/>
          <a:p>
            <a:r>
              <a:rPr lang="en-US" sz="3600" dirty="0"/>
              <a:t>     ALPHA BETA PRUNING ALGORITHM</a:t>
            </a:r>
            <a:endParaRPr lang="en-IN" dirty="0"/>
          </a:p>
        </p:txBody>
      </p:sp>
      <p:sp>
        <p:nvSpPr>
          <p:cNvPr id="3" name="Content Placeholder 2">
            <a:extLst>
              <a:ext uri="{FF2B5EF4-FFF2-40B4-BE49-F238E27FC236}">
                <a16:creationId xmlns:a16="http://schemas.microsoft.com/office/drawing/2014/main" id="{5007864D-70E0-2F5A-F6B2-8D8D07D150A7}"/>
              </a:ext>
            </a:extLst>
          </p:cNvPr>
          <p:cNvSpPr>
            <a:spLocks noGrp="1"/>
          </p:cNvSpPr>
          <p:nvPr>
            <p:ph idx="1"/>
          </p:nvPr>
        </p:nvSpPr>
        <p:spPr>
          <a:xfrm>
            <a:off x="537210" y="1571625"/>
            <a:ext cx="7886700" cy="4351338"/>
          </a:xfrm>
        </p:spPr>
        <p:txBody>
          <a:bodyPr>
            <a:normAutofit fontScale="92500" lnSpcReduction="10000"/>
          </a:bodyPr>
          <a:lstStyle/>
          <a:p>
            <a:pPr>
              <a:buNone/>
            </a:pPr>
            <a:r>
              <a:rPr lang="en-US" b="1" dirty="0"/>
              <a:t>Alpha-Beta Pruning</a:t>
            </a:r>
            <a:r>
              <a:rPr lang="en-US" dirty="0"/>
              <a:t> is an enhancement to the </a:t>
            </a:r>
            <a:r>
              <a:rPr lang="en-US" b="1" dirty="0"/>
              <a:t>Minimax algorithm</a:t>
            </a:r>
            <a:r>
              <a:rPr lang="en-US" dirty="0"/>
              <a:t> that reduces the number of nodes evaluated in the game tree.</a:t>
            </a:r>
          </a:p>
          <a:p>
            <a:r>
              <a:rPr lang="en-US" dirty="0"/>
              <a:t>It </a:t>
            </a:r>
            <a:r>
              <a:rPr lang="en-US" b="1" dirty="0"/>
              <a:t>prunes (cuts off)</a:t>
            </a:r>
            <a:r>
              <a:rPr lang="en-US" dirty="0"/>
              <a:t> branches that cannot possibly affect the final decision, improving efficiency without changing the outcome.</a:t>
            </a:r>
          </a:p>
          <a:p>
            <a:pPr>
              <a:buFont typeface="Arial" panose="020B0604020202020204" pitchFamily="34" charset="0"/>
              <a:buChar char="•"/>
            </a:pPr>
            <a:r>
              <a:rPr lang="en-US" b="1" dirty="0"/>
              <a:t>Alpha (α):</a:t>
            </a:r>
            <a:r>
              <a:rPr lang="en-US" dirty="0"/>
              <a:t> Best value the </a:t>
            </a:r>
            <a:r>
              <a:rPr lang="en-US" b="1" dirty="0"/>
              <a:t>maximizer</a:t>
            </a:r>
            <a:r>
              <a:rPr lang="en-US" dirty="0"/>
              <a:t> can guarantee so far.</a:t>
            </a:r>
          </a:p>
          <a:p>
            <a:pPr>
              <a:buFont typeface="Arial" panose="020B0604020202020204" pitchFamily="34" charset="0"/>
              <a:buChar char="•"/>
            </a:pPr>
            <a:r>
              <a:rPr lang="en-US" b="1" dirty="0"/>
              <a:t>Beta (β):</a:t>
            </a:r>
            <a:r>
              <a:rPr lang="en-US" dirty="0"/>
              <a:t> Best value the </a:t>
            </a:r>
            <a:r>
              <a:rPr lang="en-US" b="1" dirty="0"/>
              <a:t>minimizer</a:t>
            </a:r>
            <a:r>
              <a:rPr lang="en-US" dirty="0"/>
              <a:t> can guarantee so far.</a:t>
            </a:r>
          </a:p>
          <a:p>
            <a:pPr>
              <a:buFont typeface="Arial" panose="020B0604020202020204" pitchFamily="34" charset="0"/>
              <a:buChar char="•"/>
            </a:pPr>
            <a:r>
              <a:rPr lang="en-US" dirty="0"/>
              <a:t>If </a:t>
            </a:r>
            <a:r>
              <a:rPr lang="en-US" b="1" dirty="0"/>
              <a:t>β ≤ α</a:t>
            </a:r>
            <a:r>
              <a:rPr lang="en-US" dirty="0"/>
              <a:t>, further evaluation of that node is </a:t>
            </a:r>
            <a:r>
              <a:rPr lang="en-US" b="1" dirty="0"/>
              <a:t>stopped</a:t>
            </a:r>
            <a:r>
              <a:rPr lang="en-US" dirty="0"/>
              <a:t> (pruned).</a:t>
            </a:r>
          </a:p>
          <a:p>
            <a:pPr marL="0" indent="0">
              <a:buNone/>
            </a:pPr>
            <a:endParaRPr lang="en-IN" dirty="0"/>
          </a:p>
        </p:txBody>
      </p:sp>
    </p:spTree>
    <p:extLst>
      <p:ext uri="{BB962C8B-B14F-4D97-AF65-F5344CB8AC3E}">
        <p14:creationId xmlns:p14="http://schemas.microsoft.com/office/powerpoint/2010/main" val="4176392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021890-24AA-A645-21BF-C012A2521FE1}"/>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AB252CC-9DA0-88CF-3BFA-34324E1C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4293"/>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14906A5-8B57-621D-C549-0D77257CF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3125451"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B8AAAF-3F97-28A1-04AC-75685BBBFA1E}"/>
              </a:ext>
            </a:extLst>
          </p:cNvPr>
          <p:cNvSpPr>
            <a:spLocks noGrp="1"/>
          </p:cNvSpPr>
          <p:nvPr>
            <p:ph type="title"/>
          </p:nvPr>
        </p:nvSpPr>
        <p:spPr>
          <a:xfrm>
            <a:off x="515125" y="591344"/>
            <a:ext cx="2400300" cy="5585619"/>
          </a:xfrm>
        </p:spPr>
        <p:txBody>
          <a:bodyPr>
            <a:normAutofit/>
          </a:bodyPr>
          <a:lstStyle/>
          <a:p>
            <a:r>
              <a:rPr lang="en-US" sz="3100" dirty="0">
                <a:solidFill>
                  <a:srgbClr val="FFFFFF"/>
                </a:solidFill>
              </a:rPr>
              <a:t>ALPHA-BETA</a:t>
            </a:r>
            <a:br>
              <a:rPr lang="en-US" sz="3100" dirty="0">
                <a:solidFill>
                  <a:srgbClr val="FFFFFF"/>
                </a:solidFill>
              </a:rPr>
            </a:br>
            <a:r>
              <a:rPr lang="en-US" sz="3100" dirty="0">
                <a:solidFill>
                  <a:srgbClr val="FFFFFF"/>
                </a:solidFill>
              </a:rPr>
              <a:t>PRUNING PSEUDOCODE</a:t>
            </a:r>
            <a:endParaRPr lang="en-IN" sz="3100" dirty="0">
              <a:solidFill>
                <a:srgbClr val="FFFFFF"/>
              </a:solidFill>
            </a:endParaRPr>
          </a:p>
        </p:txBody>
      </p:sp>
      <p:sp>
        <p:nvSpPr>
          <p:cNvPr id="41" name="Arc 40">
            <a:extLst>
              <a:ext uri="{FF2B5EF4-FFF2-40B4-BE49-F238E27FC236}">
                <a16:creationId xmlns:a16="http://schemas.microsoft.com/office/drawing/2014/main" id="{0A7FCC73-86C6-8C0F-06F7-F1297D8DC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2" name="Content Placeholder 2">
            <a:extLst>
              <a:ext uri="{FF2B5EF4-FFF2-40B4-BE49-F238E27FC236}">
                <a16:creationId xmlns:a16="http://schemas.microsoft.com/office/drawing/2014/main" id="{DD86968C-BFC9-0707-FA97-8C316166ADAF}"/>
              </a:ext>
            </a:extLst>
          </p:cNvPr>
          <p:cNvSpPr>
            <a:spLocks noGrp="1"/>
          </p:cNvSpPr>
          <p:nvPr>
            <p:ph idx="1"/>
          </p:nvPr>
        </p:nvSpPr>
        <p:spPr>
          <a:xfrm>
            <a:off x="3335481" y="591344"/>
            <a:ext cx="5179868" cy="5585619"/>
          </a:xfrm>
        </p:spPr>
        <p:txBody>
          <a:bodyPr anchor="ctr">
            <a:normAutofit fontScale="77500" lnSpcReduction="20000"/>
          </a:bodyPr>
          <a:lstStyle/>
          <a:p>
            <a:pPr marL="0" indent="0">
              <a:buNone/>
            </a:pPr>
            <a:r>
              <a:rPr lang="en-IN" sz="1500" dirty="0"/>
              <a:t>function </a:t>
            </a:r>
            <a:r>
              <a:rPr lang="en-IN" sz="1500" dirty="0" err="1"/>
              <a:t>alphabeta</a:t>
            </a:r>
            <a:r>
              <a:rPr lang="en-IN" sz="1500" dirty="0"/>
              <a:t>(node, depth, alpha, beta, </a:t>
            </a:r>
            <a:r>
              <a:rPr lang="en-IN" sz="1500" dirty="0" err="1"/>
              <a:t>isMaximizingPlayer</a:t>
            </a:r>
            <a:r>
              <a:rPr lang="en-IN" sz="1500" dirty="0"/>
              <a:t>):</a:t>
            </a:r>
          </a:p>
          <a:p>
            <a:pPr marL="0" indent="0">
              <a:buNone/>
            </a:pPr>
            <a:r>
              <a:rPr lang="en-IN" sz="1500" dirty="0"/>
              <a:t>    if depth == 0 or node is terminal:</a:t>
            </a:r>
          </a:p>
          <a:p>
            <a:pPr marL="0" indent="0">
              <a:buNone/>
            </a:pPr>
            <a:r>
              <a:rPr lang="en-IN" sz="1500" dirty="0"/>
              <a:t>        return evaluate(node)</a:t>
            </a:r>
          </a:p>
          <a:p>
            <a:pPr marL="0" indent="0">
              <a:buNone/>
            </a:pPr>
            <a:endParaRPr lang="en-IN" sz="1500" dirty="0"/>
          </a:p>
          <a:p>
            <a:pPr marL="0" indent="0">
              <a:buNone/>
            </a:pPr>
            <a:r>
              <a:rPr lang="en-IN" sz="1500" dirty="0"/>
              <a:t>    if </a:t>
            </a:r>
            <a:r>
              <a:rPr lang="en-IN" sz="1500" dirty="0" err="1"/>
              <a:t>isMaximizingPlayer</a:t>
            </a:r>
            <a:r>
              <a:rPr lang="en-IN" sz="1500" dirty="0"/>
              <a:t>:</a:t>
            </a:r>
          </a:p>
          <a:p>
            <a:pPr marL="0" indent="0">
              <a:buNone/>
            </a:pPr>
            <a:r>
              <a:rPr lang="en-IN" sz="1500" dirty="0"/>
              <a:t>        </a:t>
            </a:r>
            <a:r>
              <a:rPr lang="en-IN" sz="1500" dirty="0" err="1"/>
              <a:t>maxEval</a:t>
            </a:r>
            <a:r>
              <a:rPr lang="en-IN" sz="1500" dirty="0"/>
              <a:t> = -infinity</a:t>
            </a:r>
          </a:p>
          <a:p>
            <a:pPr marL="0" indent="0">
              <a:buNone/>
            </a:pPr>
            <a:r>
              <a:rPr lang="en-IN" sz="1500" dirty="0"/>
              <a:t>        for each child in </a:t>
            </a:r>
            <a:r>
              <a:rPr lang="en-IN" sz="1500" dirty="0" err="1"/>
              <a:t>node.children</a:t>
            </a:r>
            <a:r>
              <a:rPr lang="en-IN" sz="1500" dirty="0"/>
              <a:t>:</a:t>
            </a:r>
          </a:p>
          <a:p>
            <a:pPr marL="0" indent="0">
              <a:buNone/>
            </a:pPr>
            <a:r>
              <a:rPr lang="en-IN" sz="1500" dirty="0"/>
              <a:t>            eval = </a:t>
            </a:r>
            <a:r>
              <a:rPr lang="en-IN" sz="1500" dirty="0" err="1"/>
              <a:t>alphabeta</a:t>
            </a:r>
            <a:r>
              <a:rPr lang="en-IN" sz="1500" dirty="0"/>
              <a:t>(child, depth - 1, alpha, beta, false)</a:t>
            </a:r>
          </a:p>
          <a:p>
            <a:pPr marL="0" indent="0">
              <a:buNone/>
            </a:pPr>
            <a:r>
              <a:rPr lang="en-IN" sz="1500" dirty="0"/>
              <a:t>            </a:t>
            </a:r>
            <a:r>
              <a:rPr lang="en-IN" sz="1500" dirty="0" err="1"/>
              <a:t>maxEval</a:t>
            </a:r>
            <a:r>
              <a:rPr lang="en-IN" sz="1500" dirty="0"/>
              <a:t> = max(</a:t>
            </a:r>
            <a:r>
              <a:rPr lang="en-IN" sz="1500" dirty="0" err="1"/>
              <a:t>maxEval</a:t>
            </a:r>
            <a:r>
              <a:rPr lang="en-IN" sz="1500" dirty="0"/>
              <a:t>, eval)</a:t>
            </a:r>
          </a:p>
          <a:p>
            <a:pPr marL="0" indent="0">
              <a:buNone/>
            </a:pPr>
            <a:r>
              <a:rPr lang="en-IN" sz="1500" dirty="0"/>
              <a:t>            alpha = max(alpha, eval)</a:t>
            </a:r>
          </a:p>
          <a:p>
            <a:pPr marL="0" indent="0">
              <a:buNone/>
            </a:pPr>
            <a:r>
              <a:rPr lang="en-IN" sz="1500" dirty="0"/>
              <a:t>            if beta &lt;= alpha:</a:t>
            </a:r>
          </a:p>
          <a:p>
            <a:pPr marL="0" indent="0">
              <a:buNone/>
            </a:pPr>
            <a:r>
              <a:rPr lang="en-IN" sz="1500" dirty="0"/>
              <a:t>                break  // Beta cutoff</a:t>
            </a:r>
          </a:p>
          <a:p>
            <a:pPr marL="0" indent="0">
              <a:buNone/>
            </a:pPr>
            <a:r>
              <a:rPr lang="en-IN" sz="1500" dirty="0"/>
              <a:t>        return </a:t>
            </a:r>
            <a:r>
              <a:rPr lang="en-IN" sz="1500" dirty="0" err="1"/>
              <a:t>maxEval</a:t>
            </a:r>
            <a:endParaRPr lang="en-IN" sz="1500" dirty="0"/>
          </a:p>
          <a:p>
            <a:pPr marL="0" indent="0">
              <a:buNone/>
            </a:pPr>
            <a:r>
              <a:rPr lang="en-IN" sz="1500" dirty="0"/>
              <a:t>    else:</a:t>
            </a:r>
          </a:p>
          <a:p>
            <a:pPr marL="0" indent="0">
              <a:buNone/>
            </a:pPr>
            <a:r>
              <a:rPr lang="en-IN" sz="1500" dirty="0"/>
              <a:t>        </a:t>
            </a:r>
            <a:r>
              <a:rPr lang="en-IN" sz="1500" dirty="0" err="1"/>
              <a:t>minEval</a:t>
            </a:r>
            <a:r>
              <a:rPr lang="en-IN" sz="1500" dirty="0"/>
              <a:t> = +infinity</a:t>
            </a:r>
          </a:p>
          <a:p>
            <a:pPr marL="0" indent="0">
              <a:buNone/>
            </a:pPr>
            <a:r>
              <a:rPr lang="en-IN" sz="1500" dirty="0"/>
              <a:t>        for each child in </a:t>
            </a:r>
            <a:r>
              <a:rPr lang="en-IN" sz="1500" dirty="0" err="1"/>
              <a:t>node.children</a:t>
            </a:r>
            <a:r>
              <a:rPr lang="en-IN" sz="1500" dirty="0"/>
              <a:t>:</a:t>
            </a:r>
          </a:p>
          <a:p>
            <a:pPr marL="0" indent="0">
              <a:buNone/>
            </a:pPr>
            <a:r>
              <a:rPr lang="en-IN" sz="1500" dirty="0"/>
              <a:t>            eval = </a:t>
            </a:r>
            <a:r>
              <a:rPr lang="en-IN" sz="1500" dirty="0" err="1"/>
              <a:t>alphabeta</a:t>
            </a:r>
            <a:r>
              <a:rPr lang="en-IN" sz="1500" dirty="0"/>
              <a:t>(child, depth - 1, alpha, beta, true)</a:t>
            </a:r>
          </a:p>
          <a:p>
            <a:pPr marL="0" indent="0">
              <a:buNone/>
            </a:pPr>
            <a:r>
              <a:rPr lang="en-IN" sz="1500" dirty="0"/>
              <a:t>            </a:t>
            </a:r>
            <a:r>
              <a:rPr lang="en-IN" sz="1500" dirty="0" err="1"/>
              <a:t>minEval</a:t>
            </a:r>
            <a:r>
              <a:rPr lang="en-IN" sz="1500" dirty="0"/>
              <a:t> = min(</a:t>
            </a:r>
            <a:r>
              <a:rPr lang="en-IN" sz="1500" dirty="0" err="1"/>
              <a:t>minEval</a:t>
            </a:r>
            <a:r>
              <a:rPr lang="en-IN" sz="1500" dirty="0"/>
              <a:t>, eval)</a:t>
            </a:r>
          </a:p>
          <a:p>
            <a:pPr marL="0" indent="0">
              <a:buNone/>
            </a:pPr>
            <a:r>
              <a:rPr lang="en-IN" sz="1500" dirty="0"/>
              <a:t>            beta = min(beta, eval)</a:t>
            </a:r>
          </a:p>
          <a:p>
            <a:pPr marL="0" indent="0">
              <a:buNone/>
            </a:pPr>
            <a:r>
              <a:rPr lang="en-IN" sz="1500" dirty="0"/>
              <a:t>            if beta &lt;= alpha:</a:t>
            </a:r>
          </a:p>
          <a:p>
            <a:pPr marL="0" indent="0">
              <a:buNone/>
            </a:pPr>
            <a:r>
              <a:rPr lang="en-IN" sz="1500" dirty="0"/>
              <a:t>                break  // Alpha cutoff</a:t>
            </a:r>
          </a:p>
          <a:p>
            <a:pPr marL="0" indent="0">
              <a:buNone/>
            </a:pPr>
            <a:r>
              <a:rPr lang="en-IN" sz="1500" dirty="0"/>
              <a:t>        return </a:t>
            </a:r>
            <a:r>
              <a:rPr lang="en-IN" sz="1500" dirty="0" err="1"/>
              <a:t>minEval</a:t>
            </a:r>
            <a:endParaRPr lang="en-IN" sz="1500" dirty="0"/>
          </a:p>
          <a:p>
            <a:pPr marL="0" indent="0">
              <a:buNone/>
            </a:pPr>
            <a:endParaRPr lang="en-IN" sz="1500" dirty="0"/>
          </a:p>
        </p:txBody>
      </p:sp>
    </p:spTree>
    <p:extLst>
      <p:ext uri="{BB962C8B-B14F-4D97-AF65-F5344CB8AC3E}">
        <p14:creationId xmlns:p14="http://schemas.microsoft.com/office/powerpoint/2010/main" val="3948519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EB9C9-1FB6-E3EB-44BA-8148482242EF}"/>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49B98AE5-7CAC-A28A-9AC1-CC20A9D1C06D}"/>
              </a:ext>
            </a:extLst>
          </p:cNvPr>
          <p:cNvSpPr/>
          <p:nvPr/>
        </p:nvSpPr>
        <p:spPr>
          <a:xfrm>
            <a:off x="4536357" y="614515"/>
            <a:ext cx="639097" cy="6390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3</a:t>
            </a:r>
          </a:p>
        </p:txBody>
      </p:sp>
      <p:sp>
        <p:nvSpPr>
          <p:cNvPr id="6" name="Oval 5">
            <a:extLst>
              <a:ext uri="{FF2B5EF4-FFF2-40B4-BE49-F238E27FC236}">
                <a16:creationId xmlns:a16="http://schemas.microsoft.com/office/drawing/2014/main" id="{C806D970-8ACB-DC66-39BF-58B8DF844AA6}"/>
              </a:ext>
            </a:extLst>
          </p:cNvPr>
          <p:cNvSpPr/>
          <p:nvPr/>
        </p:nvSpPr>
        <p:spPr>
          <a:xfrm>
            <a:off x="2772698" y="2025445"/>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3</a:t>
            </a:r>
          </a:p>
        </p:txBody>
      </p:sp>
      <p:sp>
        <p:nvSpPr>
          <p:cNvPr id="7" name="Oval 6">
            <a:extLst>
              <a:ext uri="{FF2B5EF4-FFF2-40B4-BE49-F238E27FC236}">
                <a16:creationId xmlns:a16="http://schemas.microsoft.com/office/drawing/2014/main" id="{60E5E03C-02F6-8168-EB17-D226FBEC1235}"/>
              </a:ext>
            </a:extLst>
          </p:cNvPr>
          <p:cNvSpPr/>
          <p:nvPr/>
        </p:nvSpPr>
        <p:spPr>
          <a:xfrm>
            <a:off x="6248400" y="2025445"/>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200" dirty="0">
                <a:solidFill>
                  <a:srgbClr val="FF0000"/>
                </a:solidFill>
              </a:rPr>
              <a:t>&lt;-4</a:t>
            </a:r>
            <a:endParaRPr lang="en-IN" sz="1100" dirty="0">
              <a:solidFill>
                <a:srgbClr val="FF0000"/>
              </a:solidFill>
            </a:endParaRPr>
          </a:p>
        </p:txBody>
      </p:sp>
      <p:sp>
        <p:nvSpPr>
          <p:cNvPr id="8" name="Oval 7">
            <a:extLst>
              <a:ext uri="{FF2B5EF4-FFF2-40B4-BE49-F238E27FC236}">
                <a16:creationId xmlns:a16="http://schemas.microsoft.com/office/drawing/2014/main" id="{F8977AFB-40B8-C53A-D414-0BC2BABE2223}"/>
              </a:ext>
            </a:extLst>
          </p:cNvPr>
          <p:cNvSpPr/>
          <p:nvPr/>
        </p:nvSpPr>
        <p:spPr>
          <a:xfrm>
            <a:off x="1907458" y="3428999"/>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3</a:t>
            </a:r>
          </a:p>
        </p:txBody>
      </p:sp>
      <p:sp>
        <p:nvSpPr>
          <p:cNvPr id="9" name="Oval 8">
            <a:extLst>
              <a:ext uri="{FF2B5EF4-FFF2-40B4-BE49-F238E27FC236}">
                <a16:creationId xmlns:a16="http://schemas.microsoft.com/office/drawing/2014/main" id="{303C3FB8-3857-4DEE-215F-F50AAC73D384}"/>
              </a:ext>
            </a:extLst>
          </p:cNvPr>
          <p:cNvSpPr/>
          <p:nvPr/>
        </p:nvSpPr>
        <p:spPr>
          <a:xfrm>
            <a:off x="3658057" y="3428998"/>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&gt;5</a:t>
            </a:r>
          </a:p>
        </p:txBody>
      </p:sp>
      <p:sp>
        <p:nvSpPr>
          <p:cNvPr id="10" name="Oval 9">
            <a:extLst>
              <a:ext uri="{FF2B5EF4-FFF2-40B4-BE49-F238E27FC236}">
                <a16:creationId xmlns:a16="http://schemas.microsoft.com/office/drawing/2014/main" id="{2719C0B8-C5AC-70F7-12B1-5F1C1EE0520C}"/>
              </a:ext>
            </a:extLst>
          </p:cNvPr>
          <p:cNvSpPr/>
          <p:nvPr/>
        </p:nvSpPr>
        <p:spPr>
          <a:xfrm>
            <a:off x="5403702" y="3428999"/>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-4</a:t>
            </a:r>
          </a:p>
        </p:txBody>
      </p:sp>
      <p:sp>
        <p:nvSpPr>
          <p:cNvPr id="11" name="Oval 10">
            <a:extLst>
              <a:ext uri="{FF2B5EF4-FFF2-40B4-BE49-F238E27FC236}">
                <a16:creationId xmlns:a16="http://schemas.microsoft.com/office/drawing/2014/main" id="{D3250E89-5E30-6215-1C9F-13B5163F68F6}"/>
              </a:ext>
            </a:extLst>
          </p:cNvPr>
          <p:cNvSpPr/>
          <p:nvPr/>
        </p:nvSpPr>
        <p:spPr>
          <a:xfrm>
            <a:off x="7304508" y="3428999"/>
            <a:ext cx="570271" cy="5702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t>
            </a:r>
          </a:p>
        </p:txBody>
      </p:sp>
      <p:sp>
        <p:nvSpPr>
          <p:cNvPr id="12" name="Oval 11">
            <a:extLst>
              <a:ext uri="{FF2B5EF4-FFF2-40B4-BE49-F238E27FC236}">
                <a16:creationId xmlns:a16="http://schemas.microsoft.com/office/drawing/2014/main" id="{66D69111-ED33-F0DB-54B2-28314D15AF1E}"/>
              </a:ext>
            </a:extLst>
          </p:cNvPr>
          <p:cNvSpPr/>
          <p:nvPr/>
        </p:nvSpPr>
        <p:spPr>
          <a:xfrm>
            <a:off x="1444841" y="4729316"/>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-1</a:t>
            </a:r>
          </a:p>
        </p:txBody>
      </p:sp>
      <p:sp>
        <p:nvSpPr>
          <p:cNvPr id="13" name="Oval 12">
            <a:extLst>
              <a:ext uri="{FF2B5EF4-FFF2-40B4-BE49-F238E27FC236}">
                <a16:creationId xmlns:a16="http://schemas.microsoft.com/office/drawing/2014/main" id="{93ED8812-F3AA-6B5C-DBCA-98B7480C8EC0}"/>
              </a:ext>
            </a:extLst>
          </p:cNvPr>
          <p:cNvSpPr/>
          <p:nvPr/>
        </p:nvSpPr>
        <p:spPr>
          <a:xfrm>
            <a:off x="2300247" y="4729316"/>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3</a:t>
            </a:r>
          </a:p>
        </p:txBody>
      </p:sp>
      <p:sp>
        <p:nvSpPr>
          <p:cNvPr id="14" name="Oval 13">
            <a:extLst>
              <a:ext uri="{FF2B5EF4-FFF2-40B4-BE49-F238E27FC236}">
                <a16:creationId xmlns:a16="http://schemas.microsoft.com/office/drawing/2014/main" id="{192BD73F-4580-35FD-FD5B-F2EAE705B25A}"/>
              </a:ext>
            </a:extLst>
          </p:cNvPr>
          <p:cNvSpPr/>
          <p:nvPr/>
        </p:nvSpPr>
        <p:spPr>
          <a:xfrm>
            <a:off x="3191422" y="4729315"/>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5</a:t>
            </a:r>
          </a:p>
        </p:txBody>
      </p:sp>
      <p:sp>
        <p:nvSpPr>
          <p:cNvPr id="15" name="Oval 14">
            <a:extLst>
              <a:ext uri="{FF2B5EF4-FFF2-40B4-BE49-F238E27FC236}">
                <a16:creationId xmlns:a16="http://schemas.microsoft.com/office/drawing/2014/main" id="{CDDBD3AA-4EAC-8A02-6F4A-30A538C72BCB}"/>
              </a:ext>
            </a:extLst>
          </p:cNvPr>
          <p:cNvSpPr/>
          <p:nvPr/>
        </p:nvSpPr>
        <p:spPr>
          <a:xfrm>
            <a:off x="4109167" y="4729314"/>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a:t>
            </a:r>
          </a:p>
        </p:txBody>
      </p:sp>
      <p:sp>
        <p:nvSpPr>
          <p:cNvPr id="16" name="Oval 15">
            <a:extLst>
              <a:ext uri="{FF2B5EF4-FFF2-40B4-BE49-F238E27FC236}">
                <a16:creationId xmlns:a16="http://schemas.microsoft.com/office/drawing/2014/main" id="{76B83914-A2AB-2981-F06B-FFF74247D986}"/>
              </a:ext>
            </a:extLst>
          </p:cNvPr>
          <p:cNvSpPr/>
          <p:nvPr/>
        </p:nvSpPr>
        <p:spPr>
          <a:xfrm>
            <a:off x="4924347" y="4729314"/>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-6</a:t>
            </a:r>
          </a:p>
        </p:txBody>
      </p:sp>
      <p:sp>
        <p:nvSpPr>
          <p:cNvPr id="17" name="Oval 16">
            <a:extLst>
              <a:ext uri="{FF2B5EF4-FFF2-40B4-BE49-F238E27FC236}">
                <a16:creationId xmlns:a16="http://schemas.microsoft.com/office/drawing/2014/main" id="{43A73C01-CC6C-B14F-F322-DD7F65FE818B}"/>
              </a:ext>
            </a:extLst>
          </p:cNvPr>
          <p:cNvSpPr/>
          <p:nvPr/>
        </p:nvSpPr>
        <p:spPr>
          <a:xfrm>
            <a:off x="5867726" y="4749039"/>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-4</a:t>
            </a:r>
          </a:p>
        </p:txBody>
      </p:sp>
      <p:sp>
        <p:nvSpPr>
          <p:cNvPr id="18" name="Oval 17">
            <a:extLst>
              <a:ext uri="{FF2B5EF4-FFF2-40B4-BE49-F238E27FC236}">
                <a16:creationId xmlns:a16="http://schemas.microsoft.com/office/drawing/2014/main" id="{D7C90AEA-7086-2C31-D144-8A56FF614E09}"/>
              </a:ext>
            </a:extLst>
          </p:cNvPr>
          <p:cNvSpPr/>
          <p:nvPr/>
        </p:nvSpPr>
        <p:spPr>
          <a:xfrm>
            <a:off x="6864619" y="4729311"/>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a:t>
            </a:r>
          </a:p>
        </p:txBody>
      </p:sp>
      <p:sp>
        <p:nvSpPr>
          <p:cNvPr id="19" name="Oval 18">
            <a:extLst>
              <a:ext uri="{FF2B5EF4-FFF2-40B4-BE49-F238E27FC236}">
                <a16:creationId xmlns:a16="http://schemas.microsoft.com/office/drawing/2014/main" id="{7C1FE9B9-F67A-15FD-519B-5423FAAB2B0F}"/>
              </a:ext>
            </a:extLst>
          </p:cNvPr>
          <p:cNvSpPr/>
          <p:nvPr/>
        </p:nvSpPr>
        <p:spPr>
          <a:xfrm>
            <a:off x="7796803" y="4749039"/>
            <a:ext cx="570271" cy="57027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rgbClr val="FF0000"/>
                </a:solidFill>
              </a:rPr>
              <a:t>?</a:t>
            </a:r>
          </a:p>
        </p:txBody>
      </p:sp>
      <p:cxnSp>
        <p:nvCxnSpPr>
          <p:cNvPr id="21" name="Straight Connector 20">
            <a:extLst>
              <a:ext uri="{FF2B5EF4-FFF2-40B4-BE49-F238E27FC236}">
                <a16:creationId xmlns:a16="http://schemas.microsoft.com/office/drawing/2014/main" id="{4DA0E59C-26B9-F886-6929-FD77D6881AA8}"/>
              </a:ext>
            </a:extLst>
          </p:cNvPr>
          <p:cNvCxnSpPr>
            <a:cxnSpLocks/>
            <a:stCxn id="6" idx="7"/>
            <a:endCxn id="4" idx="2"/>
          </p:cNvCxnSpPr>
          <p:nvPr/>
        </p:nvCxnSpPr>
        <p:spPr>
          <a:xfrm flipV="1">
            <a:off x="3259455" y="934064"/>
            <a:ext cx="1276902" cy="1174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6E8D06F-3FF6-734E-4463-51B444C1577E}"/>
              </a:ext>
            </a:extLst>
          </p:cNvPr>
          <p:cNvCxnSpPr>
            <a:cxnSpLocks/>
            <a:stCxn id="4" idx="6"/>
            <a:endCxn id="7" idx="1"/>
          </p:cNvCxnSpPr>
          <p:nvPr/>
        </p:nvCxnSpPr>
        <p:spPr>
          <a:xfrm>
            <a:off x="5175454" y="934064"/>
            <a:ext cx="1156460" cy="1174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B34B7A-A38E-4D1F-0069-C4A3960ECCB3}"/>
              </a:ext>
            </a:extLst>
          </p:cNvPr>
          <p:cNvCxnSpPr>
            <a:stCxn id="8" idx="0"/>
            <a:endCxn id="6" idx="3"/>
          </p:cNvCxnSpPr>
          <p:nvPr/>
        </p:nvCxnSpPr>
        <p:spPr>
          <a:xfrm flipV="1">
            <a:off x="2192594" y="2512202"/>
            <a:ext cx="663618" cy="916797"/>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05528EB4-A973-43D5-5928-17295873E6F4}"/>
              </a:ext>
            </a:extLst>
          </p:cNvPr>
          <p:cNvCxnSpPr>
            <a:cxnSpLocks/>
            <a:stCxn id="6" idx="5"/>
            <a:endCxn id="9" idx="0"/>
          </p:cNvCxnSpPr>
          <p:nvPr/>
        </p:nvCxnSpPr>
        <p:spPr>
          <a:xfrm>
            <a:off x="3259455" y="2512202"/>
            <a:ext cx="683738" cy="916796"/>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CCF08EF-5C4E-020C-5F0B-19ABFB383037}"/>
              </a:ext>
            </a:extLst>
          </p:cNvPr>
          <p:cNvCxnSpPr>
            <a:cxnSpLocks/>
            <a:endCxn id="7" idx="3"/>
          </p:cNvCxnSpPr>
          <p:nvPr/>
        </p:nvCxnSpPr>
        <p:spPr>
          <a:xfrm flipV="1">
            <a:off x="5719643" y="2512202"/>
            <a:ext cx="612271" cy="916797"/>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A0157992-9668-8F18-24DE-A4E83875D97E}"/>
              </a:ext>
            </a:extLst>
          </p:cNvPr>
          <p:cNvCxnSpPr>
            <a:cxnSpLocks/>
            <a:stCxn id="8" idx="3"/>
            <a:endCxn id="12" idx="0"/>
          </p:cNvCxnSpPr>
          <p:nvPr/>
        </p:nvCxnSpPr>
        <p:spPr>
          <a:xfrm flipH="1">
            <a:off x="1729977" y="3915756"/>
            <a:ext cx="260995" cy="81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34E8AAF-6058-3C10-A6E2-D2A5D0B5A3D8}"/>
              </a:ext>
            </a:extLst>
          </p:cNvPr>
          <p:cNvCxnSpPr>
            <a:cxnSpLocks/>
            <a:stCxn id="8" idx="5"/>
            <a:endCxn id="13" idx="0"/>
          </p:cNvCxnSpPr>
          <p:nvPr/>
        </p:nvCxnSpPr>
        <p:spPr>
          <a:xfrm>
            <a:off x="2394215" y="3915756"/>
            <a:ext cx="191168" cy="81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8809D56-BCF7-D4D8-6761-1A4FA26A5ADC}"/>
              </a:ext>
            </a:extLst>
          </p:cNvPr>
          <p:cNvCxnSpPr>
            <a:cxnSpLocks/>
            <a:stCxn id="9" idx="3"/>
            <a:endCxn id="14" idx="0"/>
          </p:cNvCxnSpPr>
          <p:nvPr/>
        </p:nvCxnSpPr>
        <p:spPr>
          <a:xfrm flipH="1">
            <a:off x="3476558" y="3915755"/>
            <a:ext cx="265013" cy="81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C9D4BA4-AABD-6783-E55D-0B1479FABF47}"/>
              </a:ext>
            </a:extLst>
          </p:cNvPr>
          <p:cNvCxnSpPr>
            <a:cxnSpLocks/>
            <a:stCxn id="16" idx="0"/>
            <a:endCxn id="10" idx="3"/>
          </p:cNvCxnSpPr>
          <p:nvPr/>
        </p:nvCxnSpPr>
        <p:spPr>
          <a:xfrm flipV="1">
            <a:off x="5209483" y="3915756"/>
            <a:ext cx="277733" cy="813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8D1F272-17D6-2813-0220-5FACBB8023A6}"/>
              </a:ext>
            </a:extLst>
          </p:cNvPr>
          <p:cNvCxnSpPr>
            <a:cxnSpLocks/>
            <a:stCxn id="10" idx="5"/>
            <a:endCxn id="17" idx="0"/>
          </p:cNvCxnSpPr>
          <p:nvPr/>
        </p:nvCxnSpPr>
        <p:spPr>
          <a:xfrm>
            <a:off x="5890459" y="3915756"/>
            <a:ext cx="262403" cy="833283"/>
          </a:xfrm>
          <a:prstGeom prst="line">
            <a:avLst/>
          </a:prstGeom>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41B72D1F-58FD-3C59-9528-6CC2F1C05A75}"/>
              </a:ext>
            </a:extLst>
          </p:cNvPr>
          <p:cNvSpPr txBox="1"/>
          <p:nvPr/>
        </p:nvSpPr>
        <p:spPr>
          <a:xfrm>
            <a:off x="215859" y="816137"/>
            <a:ext cx="1276902" cy="369332"/>
          </a:xfrm>
          <a:prstGeom prst="rect">
            <a:avLst/>
          </a:prstGeom>
          <a:noFill/>
        </p:spPr>
        <p:txBody>
          <a:bodyPr wrap="square" rtlCol="0">
            <a:spAutoFit/>
          </a:bodyPr>
          <a:lstStyle/>
          <a:p>
            <a:r>
              <a:rPr lang="en-IN" b="1" dirty="0"/>
              <a:t>Depth 0</a:t>
            </a:r>
          </a:p>
        </p:txBody>
      </p:sp>
      <p:sp>
        <p:nvSpPr>
          <p:cNvPr id="96" name="TextBox 95">
            <a:extLst>
              <a:ext uri="{FF2B5EF4-FFF2-40B4-BE49-F238E27FC236}">
                <a16:creationId xmlns:a16="http://schemas.microsoft.com/office/drawing/2014/main" id="{C205913C-361D-4477-0C88-E30FDD5B52C6}"/>
              </a:ext>
            </a:extLst>
          </p:cNvPr>
          <p:cNvSpPr txBox="1"/>
          <p:nvPr/>
        </p:nvSpPr>
        <p:spPr>
          <a:xfrm>
            <a:off x="215859" y="2080469"/>
            <a:ext cx="943441" cy="369332"/>
          </a:xfrm>
          <a:prstGeom prst="rect">
            <a:avLst/>
          </a:prstGeom>
          <a:noFill/>
        </p:spPr>
        <p:txBody>
          <a:bodyPr wrap="square" rtlCol="0">
            <a:spAutoFit/>
          </a:bodyPr>
          <a:lstStyle/>
          <a:p>
            <a:r>
              <a:rPr lang="en-IN" b="1" dirty="0"/>
              <a:t>Depth 1</a:t>
            </a:r>
          </a:p>
        </p:txBody>
      </p:sp>
      <p:sp>
        <p:nvSpPr>
          <p:cNvPr id="97" name="TextBox 96">
            <a:extLst>
              <a:ext uri="{FF2B5EF4-FFF2-40B4-BE49-F238E27FC236}">
                <a16:creationId xmlns:a16="http://schemas.microsoft.com/office/drawing/2014/main" id="{AEEA834B-015A-4510-6AE2-F44D305AA8AD}"/>
              </a:ext>
            </a:extLst>
          </p:cNvPr>
          <p:cNvSpPr txBox="1"/>
          <p:nvPr/>
        </p:nvSpPr>
        <p:spPr>
          <a:xfrm>
            <a:off x="215859" y="3529467"/>
            <a:ext cx="1067720" cy="369332"/>
          </a:xfrm>
          <a:prstGeom prst="rect">
            <a:avLst/>
          </a:prstGeom>
          <a:noFill/>
        </p:spPr>
        <p:txBody>
          <a:bodyPr wrap="square" rtlCol="0">
            <a:spAutoFit/>
          </a:bodyPr>
          <a:lstStyle/>
          <a:p>
            <a:r>
              <a:rPr lang="en-IN" b="1" dirty="0"/>
              <a:t>Depth 2</a:t>
            </a:r>
          </a:p>
        </p:txBody>
      </p:sp>
      <p:sp>
        <p:nvSpPr>
          <p:cNvPr id="98" name="TextBox 97">
            <a:extLst>
              <a:ext uri="{FF2B5EF4-FFF2-40B4-BE49-F238E27FC236}">
                <a16:creationId xmlns:a16="http://schemas.microsoft.com/office/drawing/2014/main" id="{3442C90A-EAB1-EC16-C457-83F3DBC93FB9}"/>
              </a:ext>
            </a:extLst>
          </p:cNvPr>
          <p:cNvSpPr txBox="1"/>
          <p:nvPr/>
        </p:nvSpPr>
        <p:spPr>
          <a:xfrm>
            <a:off x="215859" y="4885735"/>
            <a:ext cx="1015671" cy="369332"/>
          </a:xfrm>
          <a:prstGeom prst="rect">
            <a:avLst/>
          </a:prstGeom>
          <a:noFill/>
        </p:spPr>
        <p:txBody>
          <a:bodyPr wrap="square" rtlCol="0">
            <a:spAutoFit/>
          </a:bodyPr>
          <a:lstStyle/>
          <a:p>
            <a:r>
              <a:rPr lang="en-IN" b="1" dirty="0"/>
              <a:t>Depth 3</a:t>
            </a:r>
          </a:p>
        </p:txBody>
      </p:sp>
      <p:sp>
        <p:nvSpPr>
          <p:cNvPr id="99" name="TextBox 98">
            <a:extLst>
              <a:ext uri="{FF2B5EF4-FFF2-40B4-BE49-F238E27FC236}">
                <a16:creationId xmlns:a16="http://schemas.microsoft.com/office/drawing/2014/main" id="{C667EA91-8D56-0F4C-5B62-80CC317F3EB8}"/>
              </a:ext>
            </a:extLst>
          </p:cNvPr>
          <p:cNvSpPr txBox="1"/>
          <p:nvPr/>
        </p:nvSpPr>
        <p:spPr>
          <a:xfrm>
            <a:off x="2300247" y="5882310"/>
            <a:ext cx="5476181" cy="461665"/>
          </a:xfrm>
          <a:prstGeom prst="rect">
            <a:avLst/>
          </a:prstGeom>
          <a:noFill/>
        </p:spPr>
        <p:txBody>
          <a:bodyPr wrap="square" rtlCol="0">
            <a:spAutoFit/>
          </a:bodyPr>
          <a:lstStyle/>
          <a:p>
            <a:r>
              <a:rPr lang="en-IN" sz="2400" b="1" dirty="0"/>
              <a:t>ALPHA BETA PRUNING ALGORITHM</a:t>
            </a:r>
          </a:p>
        </p:txBody>
      </p:sp>
    </p:spTree>
    <p:extLst>
      <p:ext uri="{BB962C8B-B14F-4D97-AF65-F5344CB8AC3E}">
        <p14:creationId xmlns:p14="http://schemas.microsoft.com/office/powerpoint/2010/main" val="36781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IN" sz="4300"/>
              <a:t>Challenges Faced</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anchor="ctr">
            <a:normAutofit/>
          </a:bodyPr>
          <a:lstStyle/>
          <a:p>
            <a:r>
              <a:rPr lang="en-IN" sz="1900"/>
              <a:t>Efficient rule enforcement for complex scenarios (e.g., castling, en-passant &amp; stalemate).</a:t>
            </a:r>
          </a:p>
          <a:p>
            <a:r>
              <a:rPr lang="en-IN" sz="1900"/>
              <a:t>Smooth GUI integration with logic.</a:t>
            </a:r>
          </a:p>
          <a:p>
            <a:r>
              <a:rPr lang="en-IN" sz="1900"/>
              <a:t>Ensuring AI gives fast yet competitive responses.</a:t>
            </a:r>
          </a:p>
          <a:p>
            <a:r>
              <a:rPr lang="en-IN" sz="1900"/>
              <a:t>UI polish and interactivity.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r>
              <a:rPr lang="en-IN" sz="4300"/>
              <a:t>Why This Project Matters</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3320668"/>
          </a:xfrm>
        </p:spPr>
        <p:txBody>
          <a:bodyPr>
            <a:normAutofit/>
          </a:bodyPr>
          <a:lstStyle/>
          <a:p>
            <a:r>
              <a:rPr lang="en-US" sz="1800"/>
              <a:t>Educational value: learn search algorithms and GUI integration.</a:t>
            </a:r>
          </a:p>
          <a:p>
            <a:r>
              <a:rPr lang="en-US" sz="1800"/>
              <a:t>Designed from scratch: not built on external chess engines.</a:t>
            </a:r>
          </a:p>
          <a:p>
            <a:r>
              <a:rPr lang="en-US" sz="1800"/>
              <a:t>Customizable and modular: good for learning and enhancements.</a:t>
            </a:r>
          </a:p>
          <a:p>
            <a:r>
              <a:rPr lang="en-US" sz="1800"/>
              <a:t>Bridges game dev and AI with real-time interaction.</a:t>
            </a:r>
          </a:p>
        </p:txBody>
      </p:sp>
      <p:pic>
        <p:nvPicPr>
          <p:cNvPr id="5" name="Picture 4" descr="Navigating through maze">
            <a:extLst>
              <a:ext uri="{FF2B5EF4-FFF2-40B4-BE49-F238E27FC236}">
                <a16:creationId xmlns:a16="http://schemas.microsoft.com/office/drawing/2014/main" id="{60170D5D-A4A6-5290-40B2-6D71A48D1EC7}"/>
              </a:ext>
            </a:extLst>
          </p:cNvPr>
          <p:cNvPicPr>
            <a:picLocks noChangeAspect="1"/>
          </p:cNvPicPr>
          <p:nvPr/>
        </p:nvPicPr>
        <p:blipFill>
          <a:blip r:embed="rId2"/>
          <a:srcRect l="12373" r="37412"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r>
              <a:rPr lang="en-IN" sz="4700"/>
              <a:t>Future Scope</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3320668"/>
          </a:xfrm>
        </p:spPr>
        <p:txBody>
          <a:bodyPr>
            <a:normAutofit/>
          </a:bodyPr>
          <a:lstStyle/>
          <a:p>
            <a:r>
              <a:rPr lang="en-US" sz="1600" dirty="0"/>
              <a:t>Difficulty levels by increasing AI depth.</a:t>
            </a:r>
          </a:p>
          <a:p>
            <a:r>
              <a:rPr lang="en-US" sz="1600" dirty="0"/>
              <a:t>Integrate opening books and endgame tables.</a:t>
            </a:r>
          </a:p>
          <a:p>
            <a:r>
              <a:rPr lang="en-US" sz="1600" dirty="0"/>
              <a:t>Use ML-based evaluation instead of static scoring.</a:t>
            </a:r>
          </a:p>
          <a:p>
            <a:r>
              <a:rPr lang="en-US" sz="1600" dirty="0"/>
              <a:t>Bit Board representation for faster AI</a:t>
            </a:r>
          </a:p>
          <a:p>
            <a:r>
              <a:rPr lang="en-US" sz="1600" dirty="0"/>
              <a:t> Per Piece evaluation on different positions on the board</a:t>
            </a:r>
          </a:p>
        </p:txBody>
      </p:sp>
      <p:pic>
        <p:nvPicPr>
          <p:cNvPr id="5" name="Picture 4" descr="A colorful board game as a corporate strategy idea">
            <a:extLst>
              <a:ext uri="{FF2B5EF4-FFF2-40B4-BE49-F238E27FC236}">
                <a16:creationId xmlns:a16="http://schemas.microsoft.com/office/drawing/2014/main" id="{C47683EE-0EC2-2011-7651-8E54ABA3AEEF}"/>
              </a:ext>
            </a:extLst>
          </p:cNvPr>
          <p:cNvPicPr>
            <a:picLocks noChangeAspect="1"/>
          </p:cNvPicPr>
          <p:nvPr/>
        </p:nvPicPr>
        <p:blipFill>
          <a:blip r:embed="rId2"/>
          <a:srcRect l="32632" r="17153"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r>
              <a:rPr lang="en-IN" sz="4700"/>
              <a:t>Conclusion</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3320668"/>
          </a:xfrm>
        </p:spPr>
        <p:txBody>
          <a:bodyPr>
            <a:normAutofit/>
          </a:bodyPr>
          <a:lstStyle/>
          <a:p>
            <a:r>
              <a:rPr lang="en-US" sz="1900"/>
              <a:t>Developed a working chess engine with AI and full rule support.</a:t>
            </a:r>
          </a:p>
          <a:p>
            <a:r>
              <a:rPr lang="en-US" sz="1900"/>
              <a:t>Blends game development, rule logic, and AI concepts.</a:t>
            </a:r>
          </a:p>
          <a:p>
            <a:r>
              <a:rPr lang="en-US" sz="1900"/>
              <a:t>Can be extended further for education or research.</a:t>
            </a:r>
          </a:p>
        </p:txBody>
      </p:sp>
      <p:pic>
        <p:nvPicPr>
          <p:cNvPr id="5" name="Picture 4" descr="Black chess pieces with red queen">
            <a:extLst>
              <a:ext uri="{FF2B5EF4-FFF2-40B4-BE49-F238E27FC236}">
                <a16:creationId xmlns:a16="http://schemas.microsoft.com/office/drawing/2014/main" id="{D0F66E00-CA02-A992-4681-32B56562D52B}"/>
              </a:ext>
            </a:extLst>
          </p:cNvPr>
          <p:cNvPicPr>
            <a:picLocks noChangeAspect="1"/>
          </p:cNvPicPr>
          <p:nvPr/>
        </p:nvPicPr>
        <p:blipFill>
          <a:blip r:embed="rId2"/>
          <a:srcRect l="24899" r="24899"/>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erson in a suit and tie&#10;&#10;AI-generated content may be incorrect.">
            <a:extLst>
              <a:ext uri="{FF2B5EF4-FFF2-40B4-BE49-F238E27FC236}">
                <a16:creationId xmlns:a16="http://schemas.microsoft.com/office/drawing/2014/main" id="{D8427CCB-D75B-B494-7188-D2012DD93AEF}"/>
              </a:ext>
            </a:extLst>
          </p:cNvPr>
          <p:cNvPicPr>
            <a:picLocks noGrp="1" noChangeAspect="1"/>
          </p:cNvPicPr>
          <p:nvPr>
            <p:ph idx="1"/>
          </p:nvPr>
        </p:nvPicPr>
        <p:blipFill>
          <a:blip r:embed="rId2"/>
          <a:stretch>
            <a:fillRect/>
          </a:stretch>
        </p:blipFill>
        <p:spPr>
          <a:xfrm>
            <a:off x="2059015" y="914400"/>
            <a:ext cx="4968819" cy="4968819"/>
          </a:xfrm>
          <a:prstGeom prst="rect">
            <a:avLst/>
          </a:prstGeom>
        </p:spPr>
      </p:pic>
    </p:spTree>
    <p:extLst>
      <p:ext uri="{BB962C8B-B14F-4D97-AF65-F5344CB8AC3E}">
        <p14:creationId xmlns:p14="http://schemas.microsoft.com/office/powerpoint/2010/main" val="1348346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r>
              <a:rPr lang="en-IN" sz="4700"/>
              <a:t>Q &amp; A</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3320668"/>
          </a:xfrm>
        </p:spPr>
        <p:txBody>
          <a:bodyPr>
            <a:normAutofit/>
          </a:bodyPr>
          <a:lstStyle/>
          <a:p>
            <a:r>
              <a:rPr lang="en-US" sz="1900" dirty="0"/>
              <a:t>Thank you!</a:t>
            </a:r>
          </a:p>
          <a:p>
            <a:r>
              <a:rPr lang="en-US" sz="1900" dirty="0"/>
              <a:t>REFERENCE – ChatGPT &amp; Claude and </a:t>
            </a:r>
            <a:r>
              <a:rPr lang="en-US" sz="1900" dirty="0" err="1"/>
              <a:t>ollama</a:t>
            </a:r>
            <a:endParaRPr lang="en-US" sz="1900" dirty="0"/>
          </a:p>
          <a:p>
            <a:r>
              <a:rPr lang="en-US" sz="1900" dirty="0"/>
              <a:t>We are open to any questions.</a:t>
            </a:r>
          </a:p>
        </p:txBody>
      </p:sp>
      <p:pic>
        <p:nvPicPr>
          <p:cNvPr id="5" name="Picture 4" descr="Yellow and blue symbols">
            <a:extLst>
              <a:ext uri="{FF2B5EF4-FFF2-40B4-BE49-F238E27FC236}">
                <a16:creationId xmlns:a16="http://schemas.microsoft.com/office/drawing/2014/main" id="{40EE5BD4-7BE0-1A92-738A-33986D2CAF9C}"/>
              </a:ext>
            </a:extLst>
          </p:cNvPr>
          <p:cNvPicPr>
            <a:picLocks noChangeAspect="1"/>
          </p:cNvPicPr>
          <p:nvPr/>
        </p:nvPicPr>
        <p:blipFill>
          <a:blip r:embed="rId2"/>
          <a:srcRect l="18668" r="23784"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Cassia_Chess_Engine[1]</Template>
  <TotalTime>423</TotalTime>
  <Words>1492</Words>
  <Application>Microsoft Office PowerPoint</Application>
  <PresentationFormat>On-screen Show (4:3)</PresentationFormat>
  <Paragraphs>199</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Amasis MT Pro Light</vt:lpstr>
      <vt:lpstr>Arial</vt:lpstr>
      <vt:lpstr>Calibri</vt:lpstr>
      <vt:lpstr>Calibri Light</vt:lpstr>
      <vt:lpstr>Office 2013 - 2022 Theme</vt:lpstr>
      <vt:lpstr>Caïssa –Chess Engine</vt:lpstr>
      <vt:lpstr>Introduction</vt:lpstr>
      <vt:lpstr>Problem Statement</vt:lpstr>
      <vt:lpstr>Goals &amp; Objectives</vt:lpstr>
      <vt:lpstr>System Architecture</vt:lpstr>
      <vt:lpstr>Core Features</vt:lpstr>
      <vt:lpstr>CheckMate</vt:lpstr>
      <vt:lpstr>Draw Condition</vt:lpstr>
      <vt:lpstr>Draw Condition</vt:lpstr>
      <vt:lpstr>Draw Condition</vt:lpstr>
      <vt:lpstr>SPECIAL MOVES</vt:lpstr>
      <vt:lpstr>En Passant</vt:lpstr>
      <vt:lpstr> Castling</vt:lpstr>
      <vt:lpstr>Pawn Promotion</vt:lpstr>
      <vt:lpstr>Technical Implementation</vt:lpstr>
      <vt:lpstr>CAISSA INTERFACE</vt:lpstr>
      <vt:lpstr>HOW IT WORKS???</vt:lpstr>
      <vt:lpstr>EVALUATION FUNCTION</vt:lpstr>
      <vt:lpstr>    MINMAX ALGORITHM</vt:lpstr>
      <vt:lpstr>MINMAX PSEUDOCODE</vt:lpstr>
      <vt:lpstr>PowerPoint Presentation</vt:lpstr>
      <vt:lpstr>  ALPHA BETA PRUNING</vt:lpstr>
      <vt:lpstr>     ALPHA BETA PRUNING ALGORITHM</vt:lpstr>
      <vt:lpstr>ALPHA-BETA PRUNING PSEUDOCODE</vt:lpstr>
      <vt:lpstr>PowerPoint Presentation</vt:lpstr>
      <vt:lpstr>Challenges Faced</vt:lpstr>
      <vt:lpstr>Why This Project Matters</vt:lpstr>
      <vt:lpstr>Future Scope</vt:lpstr>
      <vt:lpstr>Conclusion</vt:lpstr>
      <vt:lpstr>PowerPoint Presentation</vt:lpstr>
      <vt:lpstr>Q &amp; 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Utkarsh Raj</cp:lastModifiedBy>
  <cp:revision>4</cp:revision>
  <dcterms:created xsi:type="dcterms:W3CDTF">2013-01-27T09:14:16Z</dcterms:created>
  <dcterms:modified xsi:type="dcterms:W3CDTF">2025-05-12T20:55:14Z</dcterms:modified>
  <cp:category/>
</cp:coreProperties>
</file>